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000"/>
            <a:ext cx="12193200" cy="12700"/>
          </a:xfrm>
          <a:prstGeom prst="rect">
            <a:avLst/>
          </a:prstGeom>
          <a:solidFill>
            <a:srgbClr val="E1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50800"/>
            <a:ext cx="36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spc="150">
                <a:solidFill>
                  <a:srgbClr val="1F2328"/>
                </a:solidFill>
                <a:latin typeface="Pretendard"/>
              </a:rPr>
              <a:t>TRO-FIT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5200" y="50800"/>
            <a:ext cx="12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C959F"/>
                </a:solidFill>
                <a:latin typeface="Pretendard"/>
              </a:rPr>
              <a:t>04b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486000"/>
            <a:ext cx="1060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spc="180">
                <a:solidFill>
                  <a:srgbClr val="0166FF"/>
                </a:solidFill>
                <a:latin typeface="Pretendard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001" y="511400"/>
            <a:ext cx="50800" cy="1397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000" y="720000"/>
            <a:ext cx="10609200" cy="12700"/>
          </a:xfrm>
          <a:prstGeom prst="rect">
            <a:avLst/>
          </a:prstGeom>
          <a:solidFill>
            <a:srgbClr val="E1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2000" y="6426000"/>
            <a:ext cx="10609200" cy="12700"/>
          </a:xfrm>
          <a:prstGeom prst="rect">
            <a:avLst/>
          </a:prstGeom>
          <a:solidFill>
            <a:srgbClr val="E1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6464100"/>
            <a:ext cx="848736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C959F"/>
                </a:solidFill>
                <a:latin typeface="Pretendard"/>
              </a:rPr>
              <a:t>출처: 2026 피우다프로젝트 WBS (로컬 환경 버전) 기술 세부 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774000"/>
            <a:ext cx="10609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328"/>
                </a:solidFill>
                <a:latin typeface="Pretendard"/>
              </a:rPr>
              <a:t>Tro-Fit 소프트웨어 구성도 (SW 아키텍처)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1152000"/>
            <a:ext cx="10609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606A"/>
                </a:solidFill>
                <a:latin typeface="Pretendard"/>
              </a:rPr>
              <a:t>로컬 Docker Compose 인프라 기반의 비동기식 온디바이스 AI 및 서비스 시스템 맵핑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1440000"/>
            <a:ext cx="3096000" cy="3456000"/>
          </a:xfrm>
          <a:prstGeom prst="rect">
            <a:avLst/>
          </a:prstGeom>
          <a:solidFill>
            <a:srgbClr val="F6F8FA"/>
          </a:solidFill>
          <a:ln w="1270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400" y="1567000"/>
            <a:ext cx="279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00">
                <a:solidFill>
                  <a:srgbClr val="0166FF"/>
                </a:solidFill>
                <a:latin typeface="Pretendard"/>
              </a:rPr>
              <a:t>CLIENT DEVICES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1764000"/>
            <a:ext cx="288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2000" y="1840200"/>
            <a:ext cx="273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Pretendard"/>
              </a:rPr>
              <a:t>스마트폰 모바일 앱 (React Native / Expo)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2000" y="2088000"/>
            <a:ext cx="2736000" cy="864000"/>
          </a:xfrm>
          <a:prstGeom prst="rect">
            <a:avLst/>
          </a:prstGeom>
          <a:solidFill>
            <a:srgbClr val="E6F8F3"/>
          </a:solidFill>
          <a:ln w="12700">
            <a:solidFill>
              <a:srgbClr val="00B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3999" y="2138800"/>
            <a:ext cx="2592001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882"/>
                </a:solidFill>
                <a:latin typeface="Pretendard"/>
              </a:rPr>
              <a:t>On-device AI 엔진 (TFLite)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3999" y="2342000"/>
            <a:ext cx="2592001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>
                <a:solidFill>
                  <a:srgbClr val="57606A"/>
                </a:solidFill>
                <a:latin typeface="Pretendard"/>
              </a:rPr>
              <a:t>• MediaPipe Pose (33개 3D 관절 추출)
• RTMPose (모델 성능 비교/검증)
• INT8 양자화 모델 경량화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000" y="3240000"/>
            <a:ext cx="288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000" y="3316200"/>
            <a:ext cx="273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Pretendard"/>
              </a:rPr>
              <a:t>스마트 TV 환경 (WebOS / Tizen)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0" y="3519400"/>
            <a:ext cx="273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>
                <a:solidFill>
                  <a:srgbClr val="57606A"/>
                </a:solidFill>
                <a:latin typeface="Pretendard"/>
              </a:rPr>
              <a:t>• Smart TV 전용 웹 애플리케이션 개발
• HDMI 미러링 및 Chromecast SDK 연동
• Lottie 웹 애니메이션 + HTML5 Audio 음악 재생
• TV 리모컨 조작 인터랙션 연동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6000" y="1440000"/>
            <a:ext cx="3096000" cy="3456000"/>
          </a:xfrm>
          <a:prstGeom prst="rect">
            <a:avLst/>
          </a:prstGeom>
          <a:solidFill>
            <a:srgbClr val="F6F8FA"/>
          </a:solidFill>
          <a:ln w="1270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8400" y="1567000"/>
            <a:ext cx="279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00">
                <a:solidFill>
                  <a:srgbClr val="00B882"/>
                </a:solidFill>
                <a:latin typeface="Pretendard"/>
              </a:rPr>
              <a:t>LOCAL SERVER STACK (Docker)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4000" y="1764000"/>
            <a:ext cx="288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6000" y="1840200"/>
            <a:ext cx="273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Pretendard"/>
              </a:rPr>
              <a:t>API 서버 (FastAPI)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6000" y="2043400"/>
            <a:ext cx="273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>
                <a:solidFill>
                  <a:srgbClr val="57606A"/>
                </a:solidFill>
                <a:latin typeface="Pretendard"/>
              </a:rPr>
              <a:t>• Python RESTful API 서버
• JWT 인증 및 사용자 보안 관리
• WebSocket 기반 실시간 운동 모니터링 API
• 카카오톡 알림톡 공유 연동 처리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84000" y="3240000"/>
            <a:ext cx="2880000" cy="136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6000" y="3316200"/>
            <a:ext cx="273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Pretendard"/>
              </a:rPr>
              <a:t>비동기 분석 및 RAG 연동 엔진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6000" y="3519400"/>
            <a:ext cx="273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>
                <a:solidFill>
                  <a:srgbClr val="57606A"/>
                </a:solidFill>
                <a:latin typeface="Pretendard"/>
              </a:rPr>
              <a:t>• Celery Worker + Redis Message Broker
• LLM Fine-tuning 기반 안무 자동 처방
• FFmpeg 활용 음원 &amp; 비디오 미디어 인코딩 전처리
• 시계열 이상 탐지 (낙상 위기 사전 예보 분석)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60000" y="1440000"/>
            <a:ext cx="3096000" cy="3456000"/>
          </a:xfrm>
          <a:prstGeom prst="rect">
            <a:avLst/>
          </a:prstGeom>
          <a:solidFill>
            <a:srgbClr val="F6F8FA"/>
          </a:solidFill>
          <a:ln w="1270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12400" y="1567000"/>
            <a:ext cx="2791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spc="100">
                <a:solidFill>
                  <a:srgbClr val="1F2328"/>
                </a:solidFill>
                <a:latin typeface="Pretendard"/>
              </a:rPr>
              <a:t>DATABASE &amp; STORAGE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68000" y="1764000"/>
            <a:ext cx="28800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40000" y="1840200"/>
            <a:ext cx="273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Pretendard"/>
              </a:rPr>
              <a:t>PostgreSQL (Docker RDB)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0000" y="2043400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>
                <a:solidFill>
                  <a:srgbClr val="57606A"/>
                </a:solidFill>
                <a:latin typeface="Pretendard"/>
              </a:rPr>
              <a:t>• 사용자 기본 정보 및 메타데이터
• 주간 운동 통계 및 누적 ROM 시계열 기록 관리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68000" y="2736000"/>
            <a:ext cx="288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0000" y="2812200"/>
            <a:ext cx="273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Pretendard"/>
              </a:rPr>
              <a:t>ChromaDB (로컬 벡터 DB)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0000" y="3015400"/>
            <a:ext cx="273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>
                <a:solidFill>
                  <a:srgbClr val="57606A"/>
                </a:solidFill>
                <a:latin typeface="Pretendard"/>
              </a:rPr>
              <a:t>• 36개 임상 진료 지침 및 가이던스 임베딩
• LLM 안무 맵핑용 지식 데이터 및 유사도 검색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68000" y="3744000"/>
            <a:ext cx="2880000" cy="8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40000" y="3820200"/>
            <a:ext cx="273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Pretendard"/>
              </a:rPr>
              <a:t>MinIO (로컬 S3 호환 Object Storage)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0000" y="4023400"/>
            <a:ext cx="2736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 b="0">
                <a:solidFill>
                  <a:srgbClr val="57606A"/>
                </a:solidFill>
                <a:latin typeface="Pretendard"/>
              </a:rPr>
              <a:t>• 생성된 트로트 안무 JSON 패킷 및 메타 리소스 보관
• 로컬 S3 API 엔드포인트 연동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2000" y="5021999"/>
            <a:ext cx="10609200" cy="648000"/>
          </a:xfrm>
          <a:prstGeom prst="rect">
            <a:avLst/>
          </a:prstGeom>
          <a:solidFill>
            <a:srgbClr val="E8F2FF"/>
          </a:solidFill>
          <a:ln w="12700">
            <a:solidFill>
              <a:srgbClr val="01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800" y="5123599"/>
            <a:ext cx="102536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spc="100">
                <a:solidFill>
                  <a:srgbClr val="0166FF"/>
                </a:solidFill>
                <a:latin typeface="Pretendard"/>
              </a:rPr>
              <a:t>DEVSECOPS &amp; INFRASTRUCTURE TOOLS (로컬 개발 환경 검증)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4000" y="5237999"/>
            <a:ext cx="24273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5200" y="5255999"/>
            <a:ext cx="23553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328"/>
                </a:solidFill>
                <a:latin typeface="Pretendard"/>
              </a:rPr>
              <a:t>CI/CD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5200" y="5399999"/>
            <a:ext cx="2355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7606A"/>
                </a:solidFill>
                <a:latin typeface="Pretendard"/>
              </a:rPr>
              <a:t>GitHub Actions  |  로컬 Docker Compose 빌드 자동화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43300" y="5237999"/>
            <a:ext cx="24273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74500" y="5255999"/>
            <a:ext cx="23553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328"/>
                </a:solidFill>
                <a:latin typeface="Pretendard"/>
              </a:rPr>
              <a:t>Monitoring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74500" y="5399999"/>
            <a:ext cx="2355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7606A"/>
                </a:solidFill>
                <a:latin typeface="Pretendard"/>
              </a:rPr>
              <a:t>Prometheus + Grafana  |  Docker 멀티컨테이너 리소스 모니터링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22600" y="5237999"/>
            <a:ext cx="24273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3800" y="5255999"/>
            <a:ext cx="23553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328"/>
                </a:solidFill>
                <a:latin typeface="Pretendard"/>
              </a:rPr>
              <a:t>Performance Test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3800" y="5399999"/>
            <a:ext cx="2355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7606A"/>
                </a:solidFill>
                <a:latin typeface="Pretendard"/>
              </a:rPr>
              <a:t>Locust 활용  |  로컬 API 서버 부하 테스트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01900" y="5237999"/>
            <a:ext cx="2427300" cy="3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33100" y="5255999"/>
            <a:ext cx="23553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2328"/>
                </a:solidFill>
                <a:latin typeface="Pretendard"/>
              </a:rPr>
              <a:t>Security Audit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33100" y="5399999"/>
            <a:ext cx="23553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7606A"/>
                </a:solidFill>
                <a:latin typeface="Pretendard"/>
              </a:rPr>
              <a:t>OWASP ZAP 로컬 취약점 점검  |  Bandit 정적 분석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24000" y="2988000"/>
            <a:ext cx="2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66FF"/>
                </a:solidFill>
                <a:latin typeface="Pretendard"/>
              </a:rPr>
              <a:t>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24000" y="3239999"/>
            <a:ext cx="21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C959F"/>
                </a:solidFill>
                <a:latin typeface="Pretendard"/>
              </a:rPr>
              <a:t>REST API
JSON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08000" y="2988000"/>
            <a:ext cx="2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882"/>
                </a:solidFill>
                <a:latin typeface="Pretendard"/>
              </a:rPr>
              <a:t>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08000" y="3239999"/>
            <a:ext cx="21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C959F"/>
                </a:solidFill>
                <a:latin typeface="Pretendard"/>
              </a:rPr>
              <a:t>SQL / Query
S3 API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807200"/>
            <a:ext cx="12193200" cy="50800"/>
          </a:xfrm>
          <a:prstGeom prst="rect">
            <a:avLst/>
          </a:prstGeom>
          <a:solidFill>
            <a:srgbClr val="01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
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media1.mp4" ContentType="video/mp4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presProps" Target="presProps.xml"  /><Relationship Id="rId24" Type="http://schemas.openxmlformats.org/officeDocument/2006/relationships/viewProps" Target="viewProps.xml"  /><Relationship Id="rId25" Type="http://schemas.openxmlformats.org/officeDocument/2006/relationships/theme" Target="theme/theme1.xml"  /><Relationship Id="rId26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2.png"  /><Relationship Id="rId11" Type="http://schemas.openxmlformats.org/officeDocument/2006/relationships/image" Target="../media/image13.png"  /><Relationship Id="rId12" Type="http://schemas.openxmlformats.org/officeDocument/2006/relationships/image" Target="../media/image14.png"  /><Relationship Id="rId13" Type="http://schemas.openxmlformats.org/officeDocument/2006/relationships/image" Target="../media/image15.png"  /><Relationship Id="rId14" Type="http://schemas.openxmlformats.org/officeDocument/2006/relationships/image" Target="../media/image16.png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Relationship Id="rId7" Type="http://schemas.openxmlformats.org/officeDocument/2006/relationships/image" Target="../media/image9.png"  /><Relationship Id="rId8" Type="http://schemas.openxmlformats.org/officeDocument/2006/relationships/image" Target="../media/image10.png"  /><Relationship Id="rId9" Type="http://schemas.openxmlformats.org/officeDocument/2006/relationships/image" Target="../media/image1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Relationship Id="rId6" Type="http://schemas.openxmlformats.org/officeDocument/2006/relationships/image" Target="../media/image22.png"  /><Relationship Id="rId7" Type="http://schemas.openxmlformats.org/officeDocument/2006/relationships/image" Target="../media/image23.png"  /><Relationship Id="rId8" Type="http://schemas.openxmlformats.org/officeDocument/2006/relationships/image" Target="../media/image2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3.png"  /><Relationship Id="rId11" Type="http://schemas.openxmlformats.org/officeDocument/2006/relationships/image" Target="../media/image34.png"  /><Relationship Id="rId12" Type="http://schemas.openxmlformats.org/officeDocument/2006/relationships/image" Target="../media/image34.png"  /><Relationship Id="rId13" Type="http://schemas.openxmlformats.org/officeDocument/2006/relationships/image" Target="../media/image34.png"  /><Relationship Id="rId14" Type="http://schemas.openxmlformats.org/officeDocument/2006/relationships/image" Target="../media/image34.png"  /><Relationship Id="rId15" Type="http://schemas.openxmlformats.org/officeDocument/2006/relationships/image" Target="../media/image34.png"  /><Relationship Id="rId16" Type="http://schemas.openxmlformats.org/officeDocument/2006/relationships/image" Target="../media/image34.png"  /><Relationship Id="rId17" Type="http://schemas.openxmlformats.org/officeDocument/2006/relationships/image" Target="../media/image34.png"  /><Relationship Id="rId18" Type="http://schemas.openxmlformats.org/officeDocument/2006/relationships/image" Target="../media/image34.png"  /><Relationship Id="rId19" Type="http://schemas.openxmlformats.org/officeDocument/2006/relationships/image" Target="../media/image35.png"  /><Relationship Id="rId2" Type="http://schemas.openxmlformats.org/officeDocument/2006/relationships/image" Target="../media/image25.png"  /><Relationship Id="rId20" Type="http://schemas.openxmlformats.org/officeDocument/2006/relationships/image" Target="../media/image35.png"  /><Relationship Id="rId21" Type="http://schemas.openxmlformats.org/officeDocument/2006/relationships/image" Target="../media/image35.png"  /><Relationship Id="rId22" Type="http://schemas.openxmlformats.org/officeDocument/2006/relationships/image" Target="../media/image34.png"  /><Relationship Id="rId23" Type="http://schemas.openxmlformats.org/officeDocument/2006/relationships/image" Target="../media/image34.png"  /><Relationship Id="rId24" Type="http://schemas.openxmlformats.org/officeDocument/2006/relationships/image" Target="../media/image36.png"  /><Relationship Id="rId25" Type="http://schemas.openxmlformats.org/officeDocument/2006/relationships/image" Target="../media/image34.png"  /><Relationship Id="rId26" Type="http://schemas.openxmlformats.org/officeDocument/2006/relationships/image" Target="../media/image34.png"  /><Relationship Id="rId27" Type="http://schemas.openxmlformats.org/officeDocument/2006/relationships/image" Target="../media/image34.png"  /><Relationship Id="rId28" Type="http://schemas.openxmlformats.org/officeDocument/2006/relationships/image" Target="../media/image34.png"  /><Relationship Id="rId29" Type="http://schemas.openxmlformats.org/officeDocument/2006/relationships/image" Target="../media/image35.png"  /><Relationship Id="rId3" Type="http://schemas.openxmlformats.org/officeDocument/2006/relationships/image" Target="../media/image26.png"  /><Relationship Id="rId30" Type="http://schemas.openxmlformats.org/officeDocument/2006/relationships/image" Target="../media/image35.png"  /><Relationship Id="rId31" Type="http://schemas.openxmlformats.org/officeDocument/2006/relationships/image" Target="../media/image37.png"  /><Relationship Id="rId32" Type="http://schemas.openxmlformats.org/officeDocument/2006/relationships/image" Target="../media/image38.png"  /><Relationship Id="rId33" Type="http://schemas.openxmlformats.org/officeDocument/2006/relationships/image" Target="../media/image39.png"  /><Relationship Id="rId34" Type="http://schemas.openxmlformats.org/officeDocument/2006/relationships/image" Target="../media/image40.png"  /><Relationship Id="rId35" Type="http://schemas.openxmlformats.org/officeDocument/2006/relationships/image" Target="../media/image41.png"  /><Relationship Id="rId36" Type="http://schemas.openxmlformats.org/officeDocument/2006/relationships/image" Target="../media/image42.png"  /><Relationship Id="rId37" Type="http://schemas.openxmlformats.org/officeDocument/2006/relationships/image" Target="../media/image43.png"  /><Relationship Id="rId4" Type="http://schemas.openxmlformats.org/officeDocument/2006/relationships/image" Target="../media/image27.png"  /><Relationship Id="rId5" Type="http://schemas.openxmlformats.org/officeDocument/2006/relationships/image" Target="../media/image28.png"  /><Relationship Id="rId6" Type="http://schemas.openxmlformats.org/officeDocument/2006/relationships/image" Target="../media/image29.png"  /><Relationship Id="rId7" Type="http://schemas.openxmlformats.org/officeDocument/2006/relationships/image" Target="../media/image30.png"  /><Relationship Id="rId8" Type="http://schemas.openxmlformats.org/officeDocument/2006/relationships/image" Target="../media/image31.png"  /><Relationship Id="rId9" Type="http://schemas.openxmlformats.org/officeDocument/2006/relationships/image" Target="../media/image3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0.png"  /><Relationship Id="rId11" Type="http://schemas.openxmlformats.org/officeDocument/2006/relationships/image" Target="../media/image34.png"  /><Relationship Id="rId12" Type="http://schemas.openxmlformats.org/officeDocument/2006/relationships/image" Target="../media/image34.png"  /><Relationship Id="rId13" Type="http://schemas.openxmlformats.org/officeDocument/2006/relationships/image" Target="../media/image34.png"  /><Relationship Id="rId14" Type="http://schemas.openxmlformats.org/officeDocument/2006/relationships/image" Target="../media/image34.png"  /><Relationship Id="rId15" Type="http://schemas.openxmlformats.org/officeDocument/2006/relationships/image" Target="../media/image51.png"  /><Relationship Id="rId16" Type="http://schemas.openxmlformats.org/officeDocument/2006/relationships/image" Target="../media/image34.png"  /><Relationship Id="rId17" Type="http://schemas.openxmlformats.org/officeDocument/2006/relationships/image" Target="../media/image34.png"  /><Relationship Id="rId18" Type="http://schemas.openxmlformats.org/officeDocument/2006/relationships/image" Target="../media/image34.png"  /><Relationship Id="rId19" Type="http://schemas.openxmlformats.org/officeDocument/2006/relationships/image" Target="../media/image35.png"  /><Relationship Id="rId2" Type="http://schemas.openxmlformats.org/officeDocument/2006/relationships/image" Target="../media/image44.png"  /><Relationship Id="rId20" Type="http://schemas.openxmlformats.org/officeDocument/2006/relationships/image" Target="../media/image35.png"  /><Relationship Id="rId21" Type="http://schemas.openxmlformats.org/officeDocument/2006/relationships/image" Target="../media/image35.png"  /><Relationship Id="rId22" Type="http://schemas.openxmlformats.org/officeDocument/2006/relationships/image" Target="../media/image34.png"  /><Relationship Id="rId23" Type="http://schemas.openxmlformats.org/officeDocument/2006/relationships/image" Target="../media/image34.png"  /><Relationship Id="rId24" Type="http://schemas.openxmlformats.org/officeDocument/2006/relationships/image" Target="../media/image34.png"  /><Relationship Id="rId25" Type="http://schemas.openxmlformats.org/officeDocument/2006/relationships/image" Target="../media/image34.png"  /><Relationship Id="rId26" Type="http://schemas.openxmlformats.org/officeDocument/2006/relationships/image" Target="../media/image34.png"  /><Relationship Id="rId27" Type="http://schemas.openxmlformats.org/officeDocument/2006/relationships/image" Target="../media/image34.png"  /><Relationship Id="rId28" Type="http://schemas.openxmlformats.org/officeDocument/2006/relationships/image" Target="../media/image34.png"  /><Relationship Id="rId29" Type="http://schemas.openxmlformats.org/officeDocument/2006/relationships/image" Target="../media/image35.png"  /><Relationship Id="rId3" Type="http://schemas.openxmlformats.org/officeDocument/2006/relationships/image" Target="../media/image45.png"  /><Relationship Id="rId30" Type="http://schemas.openxmlformats.org/officeDocument/2006/relationships/image" Target="../media/image35.png"  /><Relationship Id="rId31" Type="http://schemas.openxmlformats.org/officeDocument/2006/relationships/image" Target="../media/image37.png"  /><Relationship Id="rId32" Type="http://schemas.openxmlformats.org/officeDocument/2006/relationships/image" Target="../media/image52.png"  /><Relationship Id="rId33" Type="http://schemas.openxmlformats.org/officeDocument/2006/relationships/image" Target="../media/image53.png"  /><Relationship Id="rId34" Type="http://schemas.openxmlformats.org/officeDocument/2006/relationships/image" Target="../media/image54.png"  /><Relationship Id="rId35" Type="http://schemas.openxmlformats.org/officeDocument/2006/relationships/image" Target="../media/image55.png"  /><Relationship Id="rId36" Type="http://schemas.openxmlformats.org/officeDocument/2006/relationships/image" Target="../media/image56.png"  /><Relationship Id="rId37" Type="http://schemas.openxmlformats.org/officeDocument/2006/relationships/image" Target="../media/image57.png"  /><Relationship Id="rId38" Type="http://schemas.openxmlformats.org/officeDocument/2006/relationships/image" Target="../media/image58.png"  /><Relationship Id="rId4" Type="http://schemas.openxmlformats.org/officeDocument/2006/relationships/image" Target="../media/image46.png"  /><Relationship Id="rId5" Type="http://schemas.openxmlformats.org/officeDocument/2006/relationships/image" Target="../media/image47.png"  /><Relationship Id="rId6" Type="http://schemas.openxmlformats.org/officeDocument/2006/relationships/image" Target="../media/image29.png"  /><Relationship Id="rId7" Type="http://schemas.openxmlformats.org/officeDocument/2006/relationships/image" Target="../media/image30.png"  /><Relationship Id="rId8" Type="http://schemas.openxmlformats.org/officeDocument/2006/relationships/image" Target="../media/image48.png"  /><Relationship Id="rId9" Type="http://schemas.openxmlformats.org/officeDocument/2006/relationships/image" Target="../media/image4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5.png"  /><Relationship Id="rId11" Type="http://schemas.openxmlformats.org/officeDocument/2006/relationships/image" Target="../media/image34.png"  /><Relationship Id="rId12" Type="http://schemas.openxmlformats.org/officeDocument/2006/relationships/image" Target="../media/image34.png"  /><Relationship Id="rId13" Type="http://schemas.openxmlformats.org/officeDocument/2006/relationships/image" Target="../media/image34.png"  /><Relationship Id="rId14" Type="http://schemas.openxmlformats.org/officeDocument/2006/relationships/image" Target="../media/image34.png"  /><Relationship Id="rId15" Type="http://schemas.openxmlformats.org/officeDocument/2006/relationships/image" Target="../media/image66.png"  /><Relationship Id="rId16" Type="http://schemas.openxmlformats.org/officeDocument/2006/relationships/image" Target="../media/image34.png"  /><Relationship Id="rId17" Type="http://schemas.openxmlformats.org/officeDocument/2006/relationships/image" Target="../media/image34.png"  /><Relationship Id="rId18" Type="http://schemas.openxmlformats.org/officeDocument/2006/relationships/image" Target="../media/image34.png"  /><Relationship Id="rId19" Type="http://schemas.openxmlformats.org/officeDocument/2006/relationships/image" Target="../media/image35.png"  /><Relationship Id="rId2" Type="http://schemas.openxmlformats.org/officeDocument/2006/relationships/image" Target="../media/image59.png"  /><Relationship Id="rId20" Type="http://schemas.openxmlformats.org/officeDocument/2006/relationships/image" Target="../media/image35.png"  /><Relationship Id="rId21" Type="http://schemas.openxmlformats.org/officeDocument/2006/relationships/image" Target="../media/image35.png"  /><Relationship Id="rId22" Type="http://schemas.openxmlformats.org/officeDocument/2006/relationships/image" Target="../media/image34.png"  /><Relationship Id="rId23" Type="http://schemas.openxmlformats.org/officeDocument/2006/relationships/image" Target="../media/image34.png"  /><Relationship Id="rId24" Type="http://schemas.openxmlformats.org/officeDocument/2006/relationships/image" Target="../media/image67.png"  /><Relationship Id="rId25" Type="http://schemas.openxmlformats.org/officeDocument/2006/relationships/image" Target="../media/image34.png"  /><Relationship Id="rId26" Type="http://schemas.openxmlformats.org/officeDocument/2006/relationships/image" Target="../media/image34.png"  /><Relationship Id="rId27" Type="http://schemas.openxmlformats.org/officeDocument/2006/relationships/image" Target="../media/image34.png"  /><Relationship Id="rId28" Type="http://schemas.openxmlformats.org/officeDocument/2006/relationships/image" Target="../media/image34.png"  /><Relationship Id="rId29" Type="http://schemas.openxmlformats.org/officeDocument/2006/relationships/image" Target="../media/image35.png"  /><Relationship Id="rId3" Type="http://schemas.openxmlformats.org/officeDocument/2006/relationships/image" Target="../media/image60.png"  /><Relationship Id="rId30" Type="http://schemas.openxmlformats.org/officeDocument/2006/relationships/image" Target="../media/image35.png"  /><Relationship Id="rId31" Type="http://schemas.openxmlformats.org/officeDocument/2006/relationships/image" Target="../media/image37.png"  /><Relationship Id="rId32" Type="http://schemas.openxmlformats.org/officeDocument/2006/relationships/image" Target="../media/image68.png"  /><Relationship Id="rId33" Type="http://schemas.openxmlformats.org/officeDocument/2006/relationships/image" Target="../media/image39.png"  /><Relationship Id="rId34" Type="http://schemas.openxmlformats.org/officeDocument/2006/relationships/image" Target="../media/image54.png"  /><Relationship Id="rId35" Type="http://schemas.openxmlformats.org/officeDocument/2006/relationships/image" Target="../media/image69.png"  /><Relationship Id="rId36" Type="http://schemas.openxmlformats.org/officeDocument/2006/relationships/image" Target="../media/image70.png"  /><Relationship Id="rId37" Type="http://schemas.openxmlformats.org/officeDocument/2006/relationships/image" Target="../media/image57.png"  /><Relationship Id="rId4" Type="http://schemas.openxmlformats.org/officeDocument/2006/relationships/image" Target="../media/image61.png"  /><Relationship Id="rId5" Type="http://schemas.openxmlformats.org/officeDocument/2006/relationships/image" Target="../media/image62.png"  /><Relationship Id="rId6" Type="http://schemas.openxmlformats.org/officeDocument/2006/relationships/image" Target="../media/image29.png"  /><Relationship Id="rId7" Type="http://schemas.openxmlformats.org/officeDocument/2006/relationships/image" Target="../media/image30.png"  /><Relationship Id="rId8" Type="http://schemas.openxmlformats.org/officeDocument/2006/relationships/image" Target="../media/image63.png"  /><Relationship Id="rId9" Type="http://schemas.openxmlformats.org/officeDocument/2006/relationships/image" Target="../media/image6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78.png"  /><Relationship Id="rId11" Type="http://schemas.openxmlformats.org/officeDocument/2006/relationships/image" Target="../media/image79.png"  /><Relationship Id="rId12" Type="http://schemas.openxmlformats.org/officeDocument/2006/relationships/image" Target="../media/image80.png"  /><Relationship Id="rId13" Type="http://schemas.openxmlformats.org/officeDocument/2006/relationships/image" Target="../media/image80.png"  /><Relationship Id="rId14" Type="http://schemas.openxmlformats.org/officeDocument/2006/relationships/image" Target="../media/image80.png"  /><Relationship Id="rId2" Type="http://schemas.openxmlformats.org/officeDocument/2006/relationships/image" Target="../media/image71.png"  /><Relationship Id="rId3" Type="http://schemas.openxmlformats.org/officeDocument/2006/relationships/image" Target="../media/image72.png"  /><Relationship Id="rId4" Type="http://schemas.openxmlformats.org/officeDocument/2006/relationships/image" Target="../media/image73.png"  /><Relationship Id="rId5" Type="http://schemas.openxmlformats.org/officeDocument/2006/relationships/image" Target="../media/image74.png"  /><Relationship Id="rId6" Type="http://schemas.openxmlformats.org/officeDocument/2006/relationships/image" Target="../media/image75.png"  /><Relationship Id="rId7" Type="http://schemas.openxmlformats.org/officeDocument/2006/relationships/image" Target="../media/image76.png"  /><Relationship Id="rId8" Type="http://schemas.openxmlformats.org/officeDocument/2006/relationships/image" Target="../media/image71.png"  /><Relationship Id="rId9" Type="http://schemas.openxmlformats.org/officeDocument/2006/relationships/image" Target="../media/image7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87.png"  /><Relationship Id="rId11" Type="http://schemas.openxmlformats.org/officeDocument/2006/relationships/image" Target="../media/image88.png"  /><Relationship Id="rId12" Type="http://schemas.openxmlformats.org/officeDocument/2006/relationships/image" Target="../media/image89.png"  /><Relationship Id="rId13" Type="http://schemas.openxmlformats.org/officeDocument/2006/relationships/image" Target="../media/image90.png"  /><Relationship Id="rId14" Type="http://schemas.openxmlformats.org/officeDocument/2006/relationships/image" Target="../media/image90.png"  /><Relationship Id="rId15" Type="http://schemas.openxmlformats.org/officeDocument/2006/relationships/image" Target="../media/image91.png"  /><Relationship Id="rId16" Type="http://schemas.openxmlformats.org/officeDocument/2006/relationships/image" Target="../media/image92.png"  /><Relationship Id="rId17" Type="http://schemas.openxmlformats.org/officeDocument/2006/relationships/image" Target="../media/image93.png"  /><Relationship Id="rId18" Type="http://schemas.openxmlformats.org/officeDocument/2006/relationships/image" Target="../media/image94.png"  /><Relationship Id="rId19" Type="http://schemas.openxmlformats.org/officeDocument/2006/relationships/image" Target="../media/image95.png"  /><Relationship Id="rId2" Type="http://schemas.openxmlformats.org/officeDocument/2006/relationships/image" Target="../media/image81.png"  /><Relationship Id="rId20" Type="http://schemas.openxmlformats.org/officeDocument/2006/relationships/image" Target="../media/image96.png"  /><Relationship Id="rId21" Type="http://schemas.openxmlformats.org/officeDocument/2006/relationships/image" Target="../media/image97.png"  /><Relationship Id="rId22" Type="http://schemas.openxmlformats.org/officeDocument/2006/relationships/image" Target="../media/image90.png"  /><Relationship Id="rId23" Type="http://schemas.openxmlformats.org/officeDocument/2006/relationships/image" Target="../media/image90.png"  /><Relationship Id="rId24" Type="http://schemas.openxmlformats.org/officeDocument/2006/relationships/image" Target="../media/image98.png"  /><Relationship Id="rId25" Type="http://schemas.openxmlformats.org/officeDocument/2006/relationships/image" Target="../media/image99.png"  /><Relationship Id="rId26" Type="http://schemas.openxmlformats.org/officeDocument/2006/relationships/image" Target="../media/image100.png"  /><Relationship Id="rId27" Type="http://schemas.openxmlformats.org/officeDocument/2006/relationships/image" Target="../media/image101.png"  /><Relationship Id="rId28" Type="http://schemas.openxmlformats.org/officeDocument/2006/relationships/image" Target="../media/image102.png"  /><Relationship Id="rId29" Type="http://schemas.openxmlformats.org/officeDocument/2006/relationships/image" Target="../media/image90.png"  /><Relationship Id="rId3" Type="http://schemas.openxmlformats.org/officeDocument/2006/relationships/image" Target="../media/image82.png"  /><Relationship Id="rId30" Type="http://schemas.openxmlformats.org/officeDocument/2006/relationships/image" Target="../media/image90.png"  /><Relationship Id="rId31" Type="http://schemas.openxmlformats.org/officeDocument/2006/relationships/image" Target="../media/image103.png"  /><Relationship Id="rId32" Type="http://schemas.openxmlformats.org/officeDocument/2006/relationships/image" Target="../media/image104.png"  /><Relationship Id="rId33" Type="http://schemas.openxmlformats.org/officeDocument/2006/relationships/image" Target="../media/image105.png"  /><Relationship Id="rId34" Type="http://schemas.openxmlformats.org/officeDocument/2006/relationships/image" Target="../media/image95.png"  /><Relationship Id="rId4" Type="http://schemas.openxmlformats.org/officeDocument/2006/relationships/image" Target="../media/image83.png"  /><Relationship Id="rId5" Type="http://schemas.openxmlformats.org/officeDocument/2006/relationships/image" Target="../media/image84.png"  /><Relationship Id="rId6" Type="http://schemas.openxmlformats.org/officeDocument/2006/relationships/image" Target="../media/image29.png"  /><Relationship Id="rId7" Type="http://schemas.openxmlformats.org/officeDocument/2006/relationships/image" Target="../media/image30.png"  /><Relationship Id="rId8" Type="http://schemas.openxmlformats.org/officeDocument/2006/relationships/image" Target="../media/image85.png"  /><Relationship Id="rId9" Type="http://schemas.openxmlformats.org/officeDocument/2006/relationships/image" Target="../media/image8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09.png"  /><Relationship Id="rId11" Type="http://schemas.openxmlformats.org/officeDocument/2006/relationships/image" Target="../media/image109.png"  /><Relationship Id="rId12" Type="http://schemas.openxmlformats.org/officeDocument/2006/relationships/image" Target="../media/image107.png"  /><Relationship Id="rId13" Type="http://schemas.openxmlformats.org/officeDocument/2006/relationships/image" Target="../media/image109.png"  /><Relationship Id="rId14" Type="http://schemas.openxmlformats.org/officeDocument/2006/relationships/image" Target="../media/image109.png"  /><Relationship Id="rId15" Type="http://schemas.openxmlformats.org/officeDocument/2006/relationships/image" Target="../media/image109.png"  /><Relationship Id="rId16" Type="http://schemas.openxmlformats.org/officeDocument/2006/relationships/image" Target="../media/image112.png"  /><Relationship Id="rId17" Type="http://schemas.openxmlformats.org/officeDocument/2006/relationships/image" Target="../media/image113.png"  /><Relationship Id="rId2" Type="http://schemas.openxmlformats.org/officeDocument/2006/relationships/image" Target="../media/image29.png"  /><Relationship Id="rId3" Type="http://schemas.openxmlformats.org/officeDocument/2006/relationships/image" Target="../media/image30.png"  /><Relationship Id="rId4" Type="http://schemas.openxmlformats.org/officeDocument/2006/relationships/image" Target="../media/image107.png"  /><Relationship Id="rId5" Type="http://schemas.openxmlformats.org/officeDocument/2006/relationships/image" Target="../media/image108.png"  /><Relationship Id="rId6" Type="http://schemas.openxmlformats.org/officeDocument/2006/relationships/image" Target="../media/image109.png"  /><Relationship Id="rId7" Type="http://schemas.openxmlformats.org/officeDocument/2006/relationships/image" Target="../media/image110.png"  /><Relationship Id="rId8" Type="http://schemas.openxmlformats.org/officeDocument/2006/relationships/image" Target="../media/image107.png"  /><Relationship Id="rId9" Type="http://schemas.openxmlformats.org/officeDocument/2006/relationships/image" Target="../media/image1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21.png"  /><Relationship Id="rId11" Type="http://schemas.openxmlformats.org/officeDocument/2006/relationships/image" Target="../media/image121.png"  /><Relationship Id="rId12" Type="http://schemas.openxmlformats.org/officeDocument/2006/relationships/image" Target="../media/image121.png"  /><Relationship Id="rId13" Type="http://schemas.openxmlformats.org/officeDocument/2006/relationships/image" Target="../media/image121.png"  /><Relationship Id="rId14" Type="http://schemas.openxmlformats.org/officeDocument/2006/relationships/image" Target="../media/image121.png"  /><Relationship Id="rId15" Type="http://schemas.openxmlformats.org/officeDocument/2006/relationships/image" Target="../media/image121.png"  /><Relationship Id="rId16" Type="http://schemas.openxmlformats.org/officeDocument/2006/relationships/image" Target="../media/image121.png"  /><Relationship Id="rId17" Type="http://schemas.openxmlformats.org/officeDocument/2006/relationships/image" Target="../media/image121.png"  /><Relationship Id="rId18" Type="http://schemas.openxmlformats.org/officeDocument/2006/relationships/image" Target="../media/image123.png"  /><Relationship Id="rId19" Type="http://schemas.openxmlformats.org/officeDocument/2006/relationships/image" Target="../media/image121.png"  /><Relationship Id="rId2" Type="http://schemas.openxmlformats.org/officeDocument/2006/relationships/image" Target="../media/image115.png"  /><Relationship Id="rId20" Type="http://schemas.openxmlformats.org/officeDocument/2006/relationships/image" Target="../media/image124.png"  /><Relationship Id="rId21" Type="http://schemas.openxmlformats.org/officeDocument/2006/relationships/image" Target="../media/image125.png"  /><Relationship Id="rId22" Type="http://schemas.openxmlformats.org/officeDocument/2006/relationships/image" Target="../media/image116.png"  /><Relationship Id="rId23" Type="http://schemas.openxmlformats.org/officeDocument/2006/relationships/image" Target="../media/image125.png"  /><Relationship Id="rId24" Type="http://schemas.openxmlformats.org/officeDocument/2006/relationships/image" Target="../media/image116.png"  /><Relationship Id="rId3" Type="http://schemas.openxmlformats.org/officeDocument/2006/relationships/image" Target="../media/image116.png"  /><Relationship Id="rId4" Type="http://schemas.openxmlformats.org/officeDocument/2006/relationships/image" Target="../media/image117.png"  /><Relationship Id="rId5" Type="http://schemas.openxmlformats.org/officeDocument/2006/relationships/image" Target="../media/image118.png"  /><Relationship Id="rId6" Type="http://schemas.openxmlformats.org/officeDocument/2006/relationships/image" Target="../media/image119.png"  /><Relationship Id="rId7" Type="http://schemas.openxmlformats.org/officeDocument/2006/relationships/image" Target="../media/image120.png"  /><Relationship Id="rId8" Type="http://schemas.openxmlformats.org/officeDocument/2006/relationships/image" Target="../media/image121.png"  /><Relationship Id="rId9" Type="http://schemas.openxmlformats.org/officeDocument/2006/relationships/image" Target="../media/image12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6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7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32.png"  /><Relationship Id="rId11" Type="http://schemas.openxmlformats.org/officeDocument/2006/relationships/image" Target="../media/image133.png"  /><Relationship Id="rId12" Type="http://schemas.openxmlformats.org/officeDocument/2006/relationships/image" Target="../media/image134.png"  /><Relationship Id="rId13" Type="http://schemas.openxmlformats.org/officeDocument/2006/relationships/image" Target="../media/image135.png"  /><Relationship Id="rId14" Type="http://schemas.openxmlformats.org/officeDocument/2006/relationships/image" Target="../media/image136.png"  /><Relationship Id="rId15" Type="http://schemas.openxmlformats.org/officeDocument/2006/relationships/image" Target="../media/image134.png"  /><Relationship Id="rId16" Type="http://schemas.openxmlformats.org/officeDocument/2006/relationships/image" Target="../media/image137.png"  /><Relationship Id="rId17" Type="http://schemas.openxmlformats.org/officeDocument/2006/relationships/image" Target="../media/image138.png"  /><Relationship Id="rId18" Type="http://schemas.openxmlformats.org/officeDocument/2006/relationships/image" Target="../media/image139.png"  /><Relationship Id="rId19" Type="http://schemas.openxmlformats.org/officeDocument/2006/relationships/image" Target="../media/image139.png"  /><Relationship Id="rId2" Type="http://schemas.openxmlformats.org/officeDocument/2006/relationships/image" Target="../media/image128.png"  /><Relationship Id="rId20" Type="http://schemas.openxmlformats.org/officeDocument/2006/relationships/image" Target="../media/image140.png"  /><Relationship Id="rId21" Type="http://schemas.openxmlformats.org/officeDocument/2006/relationships/image" Target="../media/image139.png"  /><Relationship Id="rId22" Type="http://schemas.openxmlformats.org/officeDocument/2006/relationships/image" Target="../media/image139.png"  /><Relationship Id="rId23" Type="http://schemas.openxmlformats.org/officeDocument/2006/relationships/image" Target="../media/image140.png"  /><Relationship Id="rId24" Type="http://schemas.openxmlformats.org/officeDocument/2006/relationships/image" Target="../media/image141.png"  /><Relationship Id="rId25" Type="http://schemas.openxmlformats.org/officeDocument/2006/relationships/image" Target="../media/image142.png"  /><Relationship Id="rId26" Type="http://schemas.openxmlformats.org/officeDocument/2006/relationships/image" Target="../media/image143.png"  /><Relationship Id="rId27" Type="http://schemas.openxmlformats.org/officeDocument/2006/relationships/image" Target="../media/image144.png"  /><Relationship Id="rId28" Type="http://schemas.openxmlformats.org/officeDocument/2006/relationships/image" Target="../media/image145.png"  /><Relationship Id="rId3" Type="http://schemas.openxmlformats.org/officeDocument/2006/relationships/image" Target="../media/image128.png"  /><Relationship Id="rId4" Type="http://schemas.openxmlformats.org/officeDocument/2006/relationships/image" Target="../media/image129.png"  /><Relationship Id="rId5" Type="http://schemas.openxmlformats.org/officeDocument/2006/relationships/image" Target="../media/image129.png"  /><Relationship Id="rId6" Type="http://schemas.openxmlformats.org/officeDocument/2006/relationships/image" Target="../media/image130.png"  /><Relationship Id="rId7" Type="http://schemas.openxmlformats.org/officeDocument/2006/relationships/image" Target="../media/image131.png"  /><Relationship Id="rId8" Type="http://schemas.openxmlformats.org/officeDocument/2006/relationships/image" Target="../media/image130.png"  /><Relationship Id="rId9" Type="http://schemas.openxmlformats.org/officeDocument/2006/relationships/image" Target="../media/image131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6.png"  /><Relationship Id="rId3" Type="http://schemas.microsoft.com/office/2007/relationships/media" Target="../media/media1.mp4"  /><Relationship Id="rId4" Type="http://schemas.openxmlformats.org/officeDocument/2006/relationships/video" Target="../media/media1.mp4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52.png"  /><Relationship Id="rId11" Type="http://schemas.openxmlformats.org/officeDocument/2006/relationships/image" Target="../media/image154.png"  /><Relationship Id="rId12" Type="http://schemas.openxmlformats.org/officeDocument/2006/relationships/image" Target="../media/image155.png"  /><Relationship Id="rId13" Type="http://schemas.openxmlformats.org/officeDocument/2006/relationships/image" Target="../media/image156.png"  /><Relationship Id="rId14" Type="http://schemas.openxmlformats.org/officeDocument/2006/relationships/image" Target="../media/image157.png"  /><Relationship Id="rId15" Type="http://schemas.openxmlformats.org/officeDocument/2006/relationships/image" Target="../media/image158.png"  /><Relationship Id="rId16" Type="http://schemas.openxmlformats.org/officeDocument/2006/relationships/image" Target="../media/image158.png"  /><Relationship Id="rId17" Type="http://schemas.openxmlformats.org/officeDocument/2006/relationships/image" Target="../media/image159.png"  /><Relationship Id="rId18" Type="http://schemas.openxmlformats.org/officeDocument/2006/relationships/image" Target="../media/image160.png"  /><Relationship Id="rId2" Type="http://schemas.openxmlformats.org/officeDocument/2006/relationships/image" Target="../media/image148.png"  /><Relationship Id="rId3" Type="http://schemas.openxmlformats.org/officeDocument/2006/relationships/image" Target="../media/image149.png"  /><Relationship Id="rId4" Type="http://schemas.openxmlformats.org/officeDocument/2006/relationships/image" Target="../media/image150.png"  /><Relationship Id="rId5" Type="http://schemas.openxmlformats.org/officeDocument/2006/relationships/image" Target="../media/image151.png"  /><Relationship Id="rId6" Type="http://schemas.openxmlformats.org/officeDocument/2006/relationships/image" Target="../media/image152.png"  /><Relationship Id="rId7" Type="http://schemas.openxmlformats.org/officeDocument/2006/relationships/image" Target="../media/image152.png"  /><Relationship Id="rId8" Type="http://schemas.openxmlformats.org/officeDocument/2006/relationships/image" Target="../media/image152.png"  /><Relationship Id="rId9" Type="http://schemas.openxmlformats.org/officeDocument/2006/relationships/image" Target="../media/image153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1.png"  /><Relationship Id="rId3" Type="http://schemas.openxmlformats.org/officeDocument/2006/relationships/image" Target="../media/image162.png"  /><Relationship Id="rId4" Type="http://schemas.openxmlformats.org/officeDocument/2006/relationships/image" Target="../media/image163.png"  /><Relationship Id="rId5" Type="http://schemas.openxmlformats.org/officeDocument/2006/relationships/image" Target="../media/image164.png"  /><Relationship Id="rId6" Type="http://schemas.openxmlformats.org/officeDocument/2006/relationships/image" Target="../media/image165.png"  /><Relationship Id="rId7" Type="http://schemas.openxmlformats.org/officeDocument/2006/relationships/image" Target="../media/image166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8707100" y="8280400"/>
            <a:ext cx="3302000" cy="330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707100" y="11023600"/>
            <a:ext cx="3302000" cy="330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707100" y="4216400"/>
            <a:ext cx="3302000" cy="3302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527300" y="7797800"/>
            <a:ext cx="9779000" cy="863600"/>
          </a:xfrm>
          <a:prstGeom prst="rect">
            <a:avLst/>
          </a:prstGeom>
        </p:spPr>
        <p:txBody>
          <a:bodyPr anchor="ctr" rtlCol="false" lIns="0" tIns="59265" rIns="0" bIns="59265"/>
          <a:lstStyle/>
          <a:p>
            <a:pPr algn="l" lvl="0">
              <a:lnSpc>
                <a:spcPct val="99600"/>
              </a:lnSpc>
            </a:pPr>
            <a:r>
              <a:rPr lang="en-US" sz="4666" b="false" i="false" u="none" strike="noStrike" spc="-100">
                <a:solidFill>
                  <a:srgbClr val="0040E0"/>
                </a:solidFill>
                <a:latin typeface="Murecho Bold"/>
                <a:ea typeface="Murecho Bold"/>
                <a:cs typeface="Murecho Bold"/>
              </a:rPr>
              <a:t>AI 비전 기반 노년층 관절 운동 플랫폼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27300" y="4394200"/>
            <a:ext cx="14884400" cy="2209800"/>
          </a:xfrm>
          <a:prstGeom prst="rect">
            <a:avLst/>
          </a:prstGeom>
          <a:effectLst>
            <a:outerShdw dir="2700000" dist="76198" blurRad="0">
              <a:srgbClr val="000000">
                <a:alpha val="40000"/>
              </a:srgbClr>
            </a:outerShdw>
          </a:effectLst>
        </p:spPr>
        <p:txBody>
          <a:bodyPr anchor="ctr" rtlCol="false" lIns="0" tIns="228594" rIns="0" bIns="228594"/>
          <a:lstStyle/>
          <a:p>
            <a:pPr algn="l" lvl="0">
              <a:lnSpc>
                <a:spcPct val="91299"/>
              </a:lnSpc>
            </a:pPr>
            <a:r>
              <a:rPr lang="en-US" sz="11999" b="false" i="false" u="none" strike="noStrike" cap="all">
                <a:solidFill>
                  <a:srgbClr val="0040E0"/>
                </a:solidFill>
                <a:latin typeface="Murecho ExtraBold"/>
                <a:ea typeface="Murecho ExtraBold"/>
                <a:cs typeface="Murecho ExtraBold"/>
              </a:rPr>
              <a:t>TRO-FIt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4100" y="12001500"/>
            <a:ext cx="5740400" cy="508000"/>
          </a:xfrm>
          <a:prstGeom prst="rect">
            <a:avLst/>
          </a:prstGeom>
        </p:spPr>
        <p:txBody>
          <a:bodyPr anchor="ctr" rtlCol="false" lIns="0" tIns="33867" rIns="0" bIns="33867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 spc="-100">
                <a:solidFill>
                  <a:srgbClr val="0040E0"/>
                </a:solidFill>
                <a:latin typeface="Murecho Medium"/>
                <a:ea typeface="Murecho Medium"/>
                <a:cs typeface="Murecho Medium"/>
              </a:rPr>
              <a:t>발표자: 박준형(팀장)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4100" y="11315700"/>
            <a:ext cx="12395200" cy="533400"/>
          </a:xfrm>
          <a:prstGeom prst="rect">
            <a:avLst/>
          </a:prstGeom>
        </p:spPr>
        <p:txBody>
          <a:bodyPr anchor="ctr" rtlCol="false" lIns="0" tIns="35560" rIns="0" bIns="3556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 spc="-100">
                <a:solidFill>
                  <a:srgbClr val="0040E0"/>
                </a:solidFill>
                <a:latin typeface="Murecho Light"/>
                <a:ea typeface="Murecho Light"/>
                <a:cs typeface="Murecho Light"/>
              </a:rPr>
              <a:t>팀: 실마리(박준형, 조영진, 이태균, 한상협)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476500" y="7467600"/>
            <a:ext cx="195199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864100" y="7480300"/>
            <a:ext cx="75184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001500" y="7480300"/>
            <a:ext cx="7518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76500" y="3810000"/>
            <a:ext cx="1054100" cy="105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162300" y="3810000"/>
            <a:ext cx="1066800" cy="1066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37700" y="3810000"/>
            <a:ext cx="1054100" cy="1054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23500" y="3810000"/>
            <a:ext cx="1066800" cy="1066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598900" y="3810000"/>
            <a:ext cx="10541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284700" y="3810000"/>
            <a:ext cx="1066800" cy="1066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476500" y="8255000"/>
            <a:ext cx="1054100" cy="1054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162300" y="8255000"/>
            <a:ext cx="1066800" cy="1066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537700" y="8255000"/>
            <a:ext cx="1054100" cy="1054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223500" y="8255000"/>
            <a:ext cx="1066800" cy="1066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598900" y="8255000"/>
            <a:ext cx="1054100" cy="1054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284700" y="8255000"/>
            <a:ext cx="1066800" cy="1066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476500" y="1727200"/>
            <a:ext cx="13652500" cy="12192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Murecho Bold"/>
                <a:ea typeface="Murecho Bold"/>
                <a:cs typeface="Murecho Bold"/>
              </a:rPr>
              <a:t>Table of Contents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05100" y="5092700"/>
            <a:ext cx="4965700" cy="469900"/>
          </a:xfrm>
          <a:prstGeom prst="rect">
            <a:avLst/>
          </a:prstGeom>
        </p:spPr>
        <p:txBody>
          <a:bodyPr anchor="ctr" rtlCol="false" lIns="0" tIns="33195" rIns="0" bIns="33195"/>
          <a:lstStyle/>
          <a:p>
            <a:pPr algn="l" lvl="0">
              <a:lnSpc>
                <a:spcPct val="99600"/>
              </a:lnSpc>
            </a:pPr>
            <a:r>
              <a:rPr lang="en-US" sz="2613" b="false" i="false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문제 &amp; 솔루션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05100" y="3987800"/>
            <a:ext cx="44958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66300" y="5092700"/>
            <a:ext cx="4965700" cy="469900"/>
          </a:xfrm>
          <a:prstGeom prst="rect">
            <a:avLst/>
          </a:prstGeom>
        </p:spPr>
        <p:txBody>
          <a:bodyPr anchor="ctr" rtlCol="false" lIns="0" tIns="33195" rIns="0" bIns="33195"/>
          <a:lstStyle/>
          <a:p>
            <a:pPr algn="l" lvl="0">
              <a:lnSpc>
                <a:spcPct val="99600"/>
              </a:lnSpc>
            </a:pPr>
            <a:r>
              <a:rPr lang="en-US" sz="2613" b="false" i="false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시장 &amp; BM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27500" y="5092700"/>
            <a:ext cx="4965700" cy="469900"/>
          </a:xfrm>
          <a:prstGeom prst="rect">
            <a:avLst/>
          </a:prstGeom>
        </p:spPr>
        <p:txBody>
          <a:bodyPr anchor="ctr" rtlCol="false" lIns="0" tIns="33195" rIns="0" bIns="33195"/>
          <a:lstStyle/>
          <a:p>
            <a:pPr algn="l" lvl="0">
              <a:lnSpc>
                <a:spcPct val="99600"/>
              </a:lnSpc>
            </a:pPr>
            <a:r>
              <a:rPr lang="en-US" sz="2613" b="false" i="false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팀 역할 &amp; WBS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827500" y="3987800"/>
            <a:ext cx="44958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05100" y="9537700"/>
            <a:ext cx="4965700" cy="469900"/>
          </a:xfrm>
          <a:prstGeom prst="rect">
            <a:avLst/>
          </a:prstGeom>
        </p:spPr>
        <p:txBody>
          <a:bodyPr anchor="ctr" rtlCol="false" lIns="0" tIns="33195" rIns="0" bIns="33195"/>
          <a:lstStyle/>
          <a:p>
            <a:pPr algn="l" lvl="0">
              <a:lnSpc>
                <a:spcPct val="99600"/>
              </a:lnSpc>
            </a:pPr>
            <a:r>
              <a:rPr lang="en-US" sz="2613" b="false" i="false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개발 현황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05100" y="8432800"/>
            <a:ext cx="44958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66300" y="9537700"/>
            <a:ext cx="4965700" cy="469900"/>
          </a:xfrm>
          <a:prstGeom prst="rect">
            <a:avLst/>
          </a:prstGeom>
        </p:spPr>
        <p:txBody>
          <a:bodyPr anchor="ctr" rtlCol="false" lIns="0" tIns="33195" rIns="0" bIns="33195"/>
          <a:lstStyle/>
          <a:p>
            <a:pPr algn="l" lvl="0">
              <a:lnSpc>
                <a:spcPct val="99600"/>
              </a:lnSpc>
            </a:pPr>
            <a:r>
              <a:rPr lang="en-US" sz="2613" b="false" i="false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향후 계획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66300" y="8432800"/>
            <a:ext cx="44958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827500" y="9537700"/>
            <a:ext cx="4965700" cy="469900"/>
          </a:xfrm>
          <a:prstGeom prst="rect">
            <a:avLst/>
          </a:prstGeom>
        </p:spPr>
        <p:txBody>
          <a:bodyPr anchor="ctr" rtlCol="false" lIns="0" tIns="33195" rIns="0" bIns="33195"/>
          <a:lstStyle/>
          <a:p>
            <a:pPr algn="l" lvl="0">
              <a:lnSpc>
                <a:spcPct val="99600"/>
              </a:lnSpc>
            </a:pPr>
            <a:r>
              <a:rPr lang="en-US" sz="2613" b="false" i="false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Q&amp;A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827500" y="8432800"/>
            <a:ext cx="44958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66300" y="3987800"/>
            <a:ext cx="44958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3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93800" y="4889500"/>
            <a:ext cx="16484600" cy="2184400"/>
          </a:xfrm>
          <a:prstGeom prst="rect">
            <a:avLst/>
          </a:prstGeom>
          <a:effectLst>
            <a:outerShdw dir="2700000" dist="76198" blurRad="0">
              <a:srgbClr val="000000">
                <a:alpha val="10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1219200" y="990600"/>
            <a:ext cx="2870200" cy="2374900"/>
          </a:xfrm>
          <a:prstGeom prst="rect">
            <a:avLst/>
          </a:prstGeom>
        </p:spPr>
        <p:txBody>
          <a:bodyPr anchor="t" rtlCol="false" lIns="0" tIns="84665" rIns="0" bIns="0"/>
          <a:lstStyle/>
          <a:p>
            <a:pPr algn="l" lvl="0">
              <a:lnSpc>
                <a:spcPct val="107899"/>
              </a:lnSpc>
            </a:pPr>
            <a:r>
              <a:rPr lang="en-US" sz="13332" b="false" i="false" u="none" strike="noStrike" spc="-2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3100" y="1358900"/>
            <a:ext cx="74168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현 사회 문제점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2400" y="596900"/>
            <a:ext cx="3175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3" b="false" i="false" u="none" strike="noStrike" cap="all">
                <a:solidFill>
                  <a:srgbClr val="000000"/>
                </a:solidFill>
                <a:latin typeface="Murecho SemiBold"/>
                <a:ea typeface="Murecho SemiBold"/>
                <a:cs typeface="Murecho SemiBold"/>
              </a:rPr>
              <a:t>문제 &amp; 솔루션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070600" y="5613400"/>
            <a:ext cx="5067300" cy="5067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233400" y="5613400"/>
            <a:ext cx="5067300" cy="5067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079500" y="5613400"/>
            <a:ext cx="5067300" cy="5067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396200" y="5613400"/>
            <a:ext cx="5067300" cy="5067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89200" y="5613400"/>
            <a:ext cx="5067300" cy="5067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52000" y="5613400"/>
            <a:ext cx="5067300" cy="5067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814800" y="5613400"/>
            <a:ext cx="5067300" cy="5067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5800" y="7340600"/>
            <a:ext cx="5245100" cy="1498600"/>
          </a:xfrm>
          <a:prstGeom prst="rect">
            <a:avLst/>
          </a:prstGeom>
        </p:spPr>
        <p:txBody>
          <a:bodyPr anchor="ctr" rtlCol="false" lIns="0" tIns="57508" rIns="0" bIns="57508"/>
          <a:lstStyle/>
          <a:p>
            <a:pPr algn="ctr" lvl="0">
              <a:lnSpc>
                <a:spcPct val="99600"/>
              </a:lnSpc>
            </a:pPr>
            <a:r>
              <a:rPr lang="en-US" sz="4528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노인 근골격계
 질환 및 낙상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17900" y="7683500"/>
            <a:ext cx="3035300" cy="800100"/>
          </a:xfrm>
          <a:prstGeom prst="rect">
            <a:avLst/>
          </a:prstGeom>
        </p:spPr>
        <p:txBody>
          <a:bodyPr anchor="ctr" rtlCol="false" lIns="0" tIns="57508" rIns="0" bIns="57508"/>
          <a:lstStyle/>
          <a:p>
            <a:pPr algn="ctr" lvl="0">
              <a:lnSpc>
                <a:spcPct val="99600"/>
              </a:lnSpc>
            </a:pPr>
            <a:r>
              <a:rPr lang="en-US" sz="4528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초고령사회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02100" y="7340600"/>
            <a:ext cx="5168900" cy="1498600"/>
          </a:xfrm>
          <a:prstGeom prst="rect">
            <a:avLst/>
          </a:prstGeom>
        </p:spPr>
        <p:txBody>
          <a:bodyPr anchor="ctr" rtlCol="false" lIns="0" tIns="57508" rIns="0" bIns="57508"/>
          <a:lstStyle/>
          <a:p>
            <a:pPr algn="ctr" lvl="0">
              <a:lnSpc>
                <a:spcPct val="99600"/>
              </a:lnSpc>
            </a:pPr>
            <a:r>
              <a:rPr lang="en-US" sz="4528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기존 헬스케어
 한계 및 디지털 소외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29300" y="2908300"/>
            <a:ext cx="5067300" cy="212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47700" y="2819400"/>
            <a:ext cx="5067300" cy="2120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308100" y="2908300"/>
            <a:ext cx="5067300" cy="2120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12100" y="2908300"/>
            <a:ext cx="5067300" cy="2120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100" y="1358900"/>
            <a:ext cx="74168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현 사회 문제점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2400" y="596900"/>
            <a:ext cx="3175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3" b="false" i="false" u="none" strike="noStrike" cap="all">
                <a:solidFill>
                  <a:srgbClr val="000000"/>
                </a:solidFill>
                <a:latin typeface="Murecho SemiBold"/>
                <a:ea typeface="Murecho SemiBold"/>
                <a:cs typeface="Murecho SemiBold"/>
              </a:rPr>
              <a:t>문제 &amp; 솔루션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575300" y="9220200"/>
            <a:ext cx="63500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700000" y="9220200"/>
            <a:ext cx="6350000" cy="12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314700" y="4597400"/>
            <a:ext cx="3505200" cy="2527300"/>
          </a:xfrm>
          <a:prstGeom prst="rect">
            <a:avLst/>
          </a:prstGeom>
        </p:spPr>
        <p:txBody>
          <a:bodyPr anchor="ctr" rtlCol="false" lIns="0" tIns="57508" rIns="0" bIns="57508"/>
          <a:lstStyle/>
          <a:p>
            <a:pPr algn="ctr" lvl="1" marL="342900" indent="-342900">
              <a:lnSpc>
                <a:spcPct val="99600"/>
              </a:lnSpc>
              <a:buAutoNum type="arabicPeriod" startAt="1"/>
            </a:pPr>
            <a:r>
              <a:rPr lang="en-US" sz="4528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초고령사회</a:t>
            </a:r>
            <a:r>
              <a:rPr lang="en-US" sz="4528" b="false" i="false" u="none" strike="noStrike" spc="-200">
                <a:solidFill>
                  <a:srgbClr val="FFFFFF"/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552700" y="2768600"/>
            <a:ext cx="4445000" cy="2222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149600" y="2768600"/>
            <a:ext cx="3251200" cy="2222500"/>
          </a:xfrm>
          <a:prstGeom prst="rect">
            <a:avLst/>
          </a:prstGeom>
        </p:spPr>
        <p:txBody>
          <a:bodyPr anchor="ctr" rtlCol="false" lIns="0" tIns="50800" rIns="0" bIns="50800"/>
          <a:lstStyle/>
          <a:p>
            <a:pPr algn="ctr" lvl="0">
              <a:lnSpc>
                <a:spcPct val="99600"/>
              </a:lnSpc>
            </a:pPr>
            <a:r>
              <a:rPr lang="en-US" sz="4000" b="false" i="false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초고령사회</a:t>
            </a:r>
            <a:r>
              <a:rPr lang="en-US" sz="4000" b="false" i="false" u="none" strike="noStrike" spc="-100">
                <a:solidFill>
                  <a:srgbClr val="FFFFFF"/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10452100" y="3035300"/>
            <a:ext cx="3378200" cy="16891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375900" y="2806700"/>
            <a:ext cx="3365500" cy="2133600"/>
          </a:xfrm>
          <a:prstGeom prst="rect">
            <a:avLst/>
          </a:prstGeom>
        </p:spPr>
        <p:txBody>
          <a:bodyPr anchor="ctr" rtlCol="false" lIns="0" tIns="38262" rIns="0" bIns="38262"/>
          <a:lstStyle/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Pretendard Bold"/>
                <a:ea typeface="Pretendard Bold"/>
                <a:cs typeface="Pretendard Bold"/>
              </a:rPr>
              <a:t> 노인 근골격계</a:t>
            </a:r>
          </a:p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Pretendard Bold"/>
                <a:ea typeface="Pretendard Bold"/>
                <a:cs typeface="Pretendard Bold"/>
              </a:rPr>
              <a:t> 질환 및 낙상</a:t>
            </a: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7818100" y="3035300"/>
            <a:ext cx="3378200" cy="1689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7780000" y="2806700"/>
            <a:ext cx="3467100" cy="2133600"/>
          </a:xfrm>
          <a:prstGeom prst="rect">
            <a:avLst/>
          </a:prstGeom>
        </p:spPr>
        <p:txBody>
          <a:bodyPr anchor="ctr" rtlCol="false" lIns="0" tIns="38262" rIns="0" bIns="38262"/>
          <a:lstStyle/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Pretendard Bold"/>
                <a:ea typeface="Pretendard Bold"/>
                <a:cs typeface="Pretendard Bold"/>
              </a:rPr>
              <a:t> 기존 헬스케어</a:t>
            </a:r>
          </a:p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Pretendard Bold"/>
                <a:ea typeface="Pretendard Bold"/>
                <a:cs typeface="Pretendard Bold"/>
              </a:rPr>
              <a:t> 한계 및 디지털 소외</a:t>
            </a: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88900" y="6731000"/>
            <a:ext cx="24511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6079"/>
              </a:lnSpc>
            </a:pPr>
            <a:r>
              <a:rPr lang="en-US" sz="2452" b="false" i="false" u="none" strike="noStrike" spc="-200">
                <a:solidFill>
                  <a:srgbClr val="002C99"/>
                </a:solidFill>
                <a:latin typeface="Noto Sans CJK KR Bold"/>
                <a:ea typeface="Noto Sans CJK KR Bold"/>
                <a:cs typeface="Noto Sans CJK KR Bold"/>
              </a:rPr>
              <a:t>한국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88900" y="7988300"/>
            <a:ext cx="24511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6079"/>
              </a:lnSpc>
            </a:pPr>
            <a:r>
              <a:rPr lang="en-US" sz="2452" b="false" i="false" u="none" strike="noStrike" spc="-200">
                <a:solidFill>
                  <a:srgbClr val="002C99"/>
                </a:solidFill>
                <a:latin typeface="Noto Sans CJK KR Bold"/>
                <a:ea typeface="Noto Sans CJK KR Bold"/>
                <a:cs typeface="Noto Sans CJK KR Bold"/>
              </a:rPr>
              <a:t>일본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53300" y="6464300"/>
            <a:ext cx="12573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86" b="false" i="false" u="none" strike="noStrike">
                <a:solidFill>
                  <a:srgbClr val="002C99"/>
                </a:solidFill>
                <a:latin typeface="Swagger TTF"/>
                <a:ea typeface="Swagger TTF"/>
                <a:cs typeface="Swagger TTF"/>
              </a:rPr>
              <a:t>20.3 %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53300" y="7721600"/>
            <a:ext cx="12573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86" b="false" i="false" u="none" strike="noStrike">
                <a:solidFill>
                  <a:srgbClr val="002C99"/>
                </a:solidFill>
                <a:latin typeface="Swagger TTF"/>
                <a:ea typeface="Swagger TTF"/>
                <a:cs typeface="Swagger TTF"/>
              </a:rPr>
              <a:t>29.4 %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4400" y="5041900"/>
            <a:ext cx="7848600" cy="1574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4414" b="0" i="0" u="none" strike="noStrike">
                <a:solidFill>
                  <a:srgbClr val="002c99"/>
                </a:solidFill>
                <a:latin typeface="Swagger TTF"/>
                <a:ea typeface="Swagger TTF"/>
                <a:cs typeface="Swagger TTF"/>
              </a:rPr>
              <a:t>노인 인구 비율(65세 이상)</a:t>
            </a:r>
            <a:endParaRPr lang="en-US" sz="4414" b="0" i="0" u="none" strike="noStrike">
              <a:solidFill>
                <a:srgbClr val="002c99"/>
              </a:solidFill>
              <a:latin typeface="Swagger TTF"/>
              <a:ea typeface="Swagger TTF"/>
              <a:cs typeface="Swagger TTF"/>
            </a:endParaRP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933700" y="6540500"/>
            <a:ext cx="342900" cy="838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467100" y="6540500"/>
            <a:ext cx="342900" cy="838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013200" y="6540500"/>
            <a:ext cx="342900" cy="83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546600" y="6540500"/>
            <a:ext cx="342900" cy="838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105400" y="6540500"/>
            <a:ext cx="342900" cy="838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638800" y="6540500"/>
            <a:ext cx="342900" cy="838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184900" y="6540500"/>
            <a:ext cx="342900" cy="838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718300" y="6540500"/>
            <a:ext cx="342900" cy="838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879600" y="6540500"/>
            <a:ext cx="342900" cy="838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413000" y="6540500"/>
            <a:ext cx="342900" cy="838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933700" y="7797800"/>
            <a:ext cx="342900" cy="838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467100" y="7797800"/>
            <a:ext cx="342900" cy="838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4013200" y="7797800"/>
            <a:ext cx="342900" cy="838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4546600" y="7797800"/>
            <a:ext cx="342900" cy="838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5105400" y="7797800"/>
            <a:ext cx="342900" cy="838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638800" y="7797800"/>
            <a:ext cx="342900" cy="838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6184900" y="7797800"/>
            <a:ext cx="342900" cy="8382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6718300" y="7797800"/>
            <a:ext cx="342900" cy="838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879600" y="7797800"/>
            <a:ext cx="342900" cy="838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2413000" y="7797800"/>
            <a:ext cx="342900" cy="838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676400" y="9055100"/>
            <a:ext cx="6184900" cy="45720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2">
            <a:alphaModFix amt="30000"/>
          </a:blip>
          <a:stretch>
            <a:fillRect/>
          </a:stretch>
        </p:blipFill>
        <p:spPr>
          <a:xfrm rot="0">
            <a:off x="10617200" y="5029200"/>
            <a:ext cx="3378200" cy="3835400"/>
          </a:xfrm>
          <a:prstGeom prst="rect">
            <a:avLst/>
          </a:prstGeom>
        </p:spPr>
      </p:pic>
      <p:sp>
        <p:nvSpPr>
          <p:cNvPr name="TextBox 46" id="46"/>
          <p:cNvSpPr txBox="true"/>
          <p:nvPr/>
        </p:nvSpPr>
        <p:spPr>
          <a:xfrm rot="0">
            <a:off x="11391900" y="6604000"/>
            <a:ext cx="1828800" cy="685800"/>
          </a:xfrm>
          <a:prstGeom prst="rect">
            <a:avLst/>
          </a:prstGeom>
        </p:spPr>
        <p:txBody>
          <a:bodyPr anchor="ctr" rtlCol="false" lIns="0" tIns="35429" rIns="0" bIns="35429"/>
          <a:lstStyle/>
          <a:p>
            <a:pPr algn="ctr" lvl="0">
              <a:lnSpc>
                <a:spcPct val="102089"/>
              </a:lnSpc>
            </a:pPr>
            <a:r>
              <a:rPr lang="en-US" sz="2042" b="false" i="false" u="none" strike="noStrike" spc="-200">
                <a:solidFill>
                  <a:srgbClr val="281153">
                    <a:alpha val="23922"/>
                  </a:srgbClr>
                </a:solidFill>
                <a:latin typeface="Pretendard Black"/>
                <a:ea typeface="Pretendard Black"/>
                <a:cs typeface="Pretendard Black"/>
              </a:rPr>
              <a:t>고령자 낙상사고</a:t>
            </a:r>
          </a:p>
          <a:p>
            <a:pPr algn="ctr" lvl="0">
              <a:lnSpc>
                <a:spcPct val="102089"/>
              </a:lnSpc>
            </a:pPr>
            <a:r>
              <a:rPr lang="en-US" sz="2042" b="false" i="false" u="none" strike="noStrike" spc="-200">
                <a:solidFill>
                  <a:srgbClr val="281153">
                    <a:alpha val="23922"/>
                  </a:srgbClr>
                </a:solidFill>
                <a:latin typeface="Pretendard Black"/>
                <a:ea typeface="Pretendard Black"/>
                <a:cs typeface="Pretendard Black"/>
              </a:rPr>
              <a:t>총 23,561건</a:t>
            </a:r>
            <a:r>
              <a:rPr lang="en-US" sz="2042" b="false" i="false" u="none" strike="noStrike" spc="-200">
                <a:solidFill>
                  <a:srgbClr val="281153">
                    <a:alpha val="23922"/>
                  </a:srgbClr>
                </a:solidFill>
                <a:latin typeface="Pretendard Black"/>
                <a:ea typeface="Pretendard Black"/>
                <a:cs typeface="Pretendard Black"/>
              </a:rPr>
              <a:t/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33">
            <a:alphaModFix amt="30000"/>
          </a:blip>
          <a:stretch>
            <a:fillRect/>
          </a:stretch>
        </p:blipFill>
        <p:spPr>
          <a:xfrm rot="0">
            <a:off x="9169400" y="8826500"/>
            <a:ext cx="5956300" cy="47498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34">
            <a:alphaModFix amt="30000"/>
          </a:blip>
          <a:stretch>
            <a:fillRect/>
          </a:stretch>
        </p:blipFill>
        <p:spPr>
          <a:xfrm rot="0">
            <a:off x="16141700" y="9334500"/>
            <a:ext cx="7848600" cy="34163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5">
            <a:alphaModFix amt="30000"/>
          </a:blip>
          <a:stretch>
            <a:fillRect/>
          </a:stretch>
        </p:blipFill>
        <p:spPr>
          <a:xfrm rot="0">
            <a:off x="16065500" y="5905500"/>
            <a:ext cx="1955800" cy="29210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6">
            <a:alphaModFix amt="30000"/>
          </a:blip>
          <a:stretch>
            <a:fillRect/>
          </a:stretch>
        </p:blipFill>
        <p:spPr>
          <a:xfrm rot="0">
            <a:off x="21463000" y="5905500"/>
            <a:ext cx="2451100" cy="23622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37">
            <a:alphaModFix amt="30000"/>
          </a:blip>
          <a:stretch>
            <a:fillRect/>
          </a:stretch>
        </p:blipFill>
        <p:spPr>
          <a:xfrm rot="0">
            <a:off x="19164300" y="6489700"/>
            <a:ext cx="14605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29300" y="2908300"/>
            <a:ext cx="5067300" cy="212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47700" y="2819400"/>
            <a:ext cx="5067300" cy="2120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308100" y="2908300"/>
            <a:ext cx="5067300" cy="2120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12100" y="2908300"/>
            <a:ext cx="5067300" cy="2120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100" y="1358900"/>
            <a:ext cx="74168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현 사회 문제점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2400" y="596900"/>
            <a:ext cx="3175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3" b="false" i="false" u="none" strike="noStrike" cap="all">
                <a:solidFill>
                  <a:srgbClr val="000000"/>
                </a:solidFill>
                <a:latin typeface="Murecho SemiBold"/>
                <a:ea typeface="Murecho SemiBold"/>
                <a:cs typeface="Murecho SemiBold"/>
              </a:rPr>
              <a:t>문제 &amp; 솔루션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575300" y="9220200"/>
            <a:ext cx="63500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700000" y="9220200"/>
            <a:ext cx="6350000" cy="12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314700" y="4597400"/>
            <a:ext cx="3505200" cy="2527300"/>
          </a:xfrm>
          <a:prstGeom prst="rect">
            <a:avLst/>
          </a:prstGeom>
        </p:spPr>
        <p:txBody>
          <a:bodyPr anchor="ctr" rtlCol="false" lIns="0" tIns="57508" rIns="0" bIns="57508"/>
          <a:lstStyle/>
          <a:p>
            <a:pPr algn="ctr" lvl="1" marL="342900" indent="-342900">
              <a:lnSpc>
                <a:spcPct val="99600"/>
              </a:lnSpc>
              <a:buAutoNum type="arabicPeriod" startAt="1"/>
            </a:pPr>
            <a:r>
              <a:rPr lang="en-US" sz="4528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초고령사회</a:t>
            </a:r>
            <a:r>
              <a:rPr lang="en-US" sz="4528" b="false" i="false" u="none" strike="noStrike" spc="-200">
                <a:solidFill>
                  <a:srgbClr val="FFFFFF"/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0">
            <a:off x="3086100" y="3035300"/>
            <a:ext cx="3378200" cy="1689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556000" y="3035300"/>
            <a:ext cx="2336800" cy="1676400"/>
          </a:xfrm>
          <a:prstGeom prst="rect">
            <a:avLst/>
          </a:prstGeom>
        </p:spPr>
        <p:txBody>
          <a:bodyPr anchor="ctr" rtlCol="false" lIns="0" tIns="38262" rIns="0" bIns="38262"/>
          <a:lstStyle/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Pretendard Bold"/>
                <a:ea typeface="Pretendard Bold"/>
                <a:cs typeface="Pretendard Bold"/>
              </a:rPr>
              <a:t>초고령사회</a:t>
            </a: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918700" y="2806700"/>
            <a:ext cx="4445000" cy="2222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439400" y="2654300"/>
            <a:ext cx="3403600" cy="2438400"/>
          </a:xfrm>
          <a:prstGeom prst="rect">
            <a:avLst/>
          </a:prstGeom>
        </p:spPr>
        <p:txBody>
          <a:bodyPr anchor="ctr" rtlCol="false" lIns="0" tIns="50800" rIns="0" bIns="50800"/>
          <a:lstStyle/>
          <a:p>
            <a:pPr algn="ctr" lvl="0">
              <a:lnSpc>
                <a:spcPct val="99600"/>
              </a:lnSpc>
            </a:pPr>
            <a:r>
              <a:rPr lang="en-US" sz="4000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노인 근골격계</a:t>
            </a:r>
          </a:p>
          <a:p>
            <a:pPr algn="ctr" lvl="0">
              <a:lnSpc>
                <a:spcPct val="99600"/>
              </a:lnSpc>
            </a:pPr>
            <a:r>
              <a:rPr lang="en-US" sz="4000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질환 및 낙상</a:t>
            </a:r>
            <a:r>
              <a:rPr lang="en-US" sz="3012" b="false" i="false" u="none" strike="noStrike" spc="-100">
                <a:solidFill>
                  <a:srgbClr val="FFFFFF"/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7818100" y="3035300"/>
            <a:ext cx="3378200" cy="1689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7780000" y="2806700"/>
            <a:ext cx="3467100" cy="2133600"/>
          </a:xfrm>
          <a:prstGeom prst="rect">
            <a:avLst/>
          </a:prstGeom>
        </p:spPr>
        <p:txBody>
          <a:bodyPr anchor="ctr" rtlCol="false" lIns="0" tIns="38262" rIns="0" bIns="38262"/>
          <a:lstStyle/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Pretendard Bold"/>
                <a:ea typeface="Pretendard Bold"/>
                <a:cs typeface="Pretendard Bold"/>
              </a:rPr>
              <a:t> 기존 헬스케어</a:t>
            </a:r>
          </a:p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Pretendard Bold"/>
                <a:ea typeface="Pretendard Bold"/>
                <a:cs typeface="Pretendard Bold"/>
              </a:rPr>
              <a:t> 한계 및 디지털 소외</a:t>
            </a: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88900" y="6731000"/>
            <a:ext cx="24511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6079"/>
              </a:lnSpc>
            </a:pPr>
            <a:r>
              <a:rPr lang="en-US" sz="2452" b="false" i="false" u="none" strike="noStrike" spc="-200">
                <a:solidFill>
                  <a:srgbClr val="002C99">
                    <a:alpha val="30196"/>
                  </a:srgbClr>
                </a:solidFill>
                <a:latin typeface="Noto Sans CJK KR Bold"/>
                <a:ea typeface="Noto Sans CJK KR Bold"/>
                <a:cs typeface="Noto Sans CJK KR Bold"/>
              </a:rPr>
              <a:t>한국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88900" y="7988300"/>
            <a:ext cx="24511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6079"/>
              </a:lnSpc>
            </a:pPr>
            <a:r>
              <a:rPr lang="en-US" sz="2452" b="false" i="false" u="none" strike="noStrike" spc="-200">
                <a:solidFill>
                  <a:srgbClr val="002C99">
                    <a:alpha val="30196"/>
                  </a:srgbClr>
                </a:solidFill>
                <a:latin typeface="Noto Sans CJK KR Bold"/>
                <a:ea typeface="Noto Sans CJK KR Bold"/>
                <a:cs typeface="Noto Sans CJK KR Bold"/>
              </a:rPr>
              <a:t>일본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53300" y="6464300"/>
            <a:ext cx="12573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86" b="false" i="false" u="none" strike="noStrike">
                <a:solidFill>
                  <a:srgbClr val="002C99">
                    <a:alpha val="30196"/>
                  </a:srgbClr>
                </a:solidFill>
                <a:latin typeface="Swagger TTF"/>
                <a:ea typeface="Swagger TTF"/>
                <a:cs typeface="Swagger TTF"/>
              </a:rPr>
              <a:t>20.3 %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53300" y="7721600"/>
            <a:ext cx="12573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86" b="false" i="false" u="none" strike="noStrike">
                <a:solidFill>
                  <a:srgbClr val="002C99">
                    <a:alpha val="30196"/>
                  </a:srgbClr>
                </a:solidFill>
                <a:latin typeface="Swagger TTF"/>
                <a:ea typeface="Swagger TTF"/>
                <a:cs typeface="Swagger TTF"/>
              </a:rPr>
              <a:t>29.4 %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4400" y="5041900"/>
            <a:ext cx="7772400" cy="1574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4414" b="0" i="0" u="none" strike="noStrike">
                <a:solidFill>
                  <a:srgbClr val="002c99">
                    <a:alpha val="30196"/>
                  </a:srgbClr>
                </a:solidFill>
                <a:latin typeface="Swagger TTF"/>
                <a:ea typeface="Swagger TTF"/>
                <a:cs typeface="Swagger TTF"/>
              </a:rPr>
              <a:t>노인 인구 비율(65세 이상)</a:t>
            </a:r>
            <a:endParaRPr lang="en-US" sz="4414" b="0" i="0" u="none" strike="noStrike">
              <a:solidFill>
                <a:srgbClr val="002c99">
                  <a:alpha val="30196"/>
                </a:srgbClr>
              </a:solidFill>
              <a:latin typeface="Swagger TTF"/>
              <a:ea typeface="Swagger TTF"/>
              <a:cs typeface="Swagger TTF"/>
            </a:endParaRP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2933700" y="6540500"/>
            <a:ext cx="342900" cy="838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0">
            <a:off x="3467100" y="6540500"/>
            <a:ext cx="342900" cy="838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alphaModFix amt="30000"/>
          </a:blip>
          <a:stretch>
            <a:fillRect/>
          </a:stretch>
        </p:blipFill>
        <p:spPr>
          <a:xfrm rot="0">
            <a:off x="4013200" y="6540500"/>
            <a:ext cx="342900" cy="83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>
            <a:alphaModFix amt="30000"/>
          </a:blip>
          <a:stretch>
            <a:fillRect/>
          </a:stretch>
        </p:blipFill>
        <p:spPr>
          <a:xfrm rot="0">
            <a:off x="4546600" y="6540500"/>
            <a:ext cx="342900" cy="838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5">
            <a:alphaModFix amt="30000"/>
          </a:blip>
          <a:stretch>
            <a:fillRect/>
          </a:stretch>
        </p:blipFill>
        <p:spPr>
          <a:xfrm rot="0">
            <a:off x="5105400" y="6540500"/>
            <a:ext cx="342900" cy="838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5638800" y="6540500"/>
            <a:ext cx="342900" cy="838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0">
            <a:off x="6184900" y="6540500"/>
            <a:ext cx="342900" cy="838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>
            <a:alphaModFix amt="30000"/>
          </a:blip>
          <a:stretch>
            <a:fillRect/>
          </a:stretch>
        </p:blipFill>
        <p:spPr>
          <a:xfrm rot="0">
            <a:off x="6718300" y="6540500"/>
            <a:ext cx="342900" cy="838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0">
            <a:off x="1879600" y="6540500"/>
            <a:ext cx="342900" cy="838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0">
            <a:off x="2413000" y="6540500"/>
            <a:ext cx="342900" cy="838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2933700" y="7797800"/>
            <a:ext cx="342900" cy="838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3467100" y="7797800"/>
            <a:ext cx="342900" cy="838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3">
            <a:alphaModFix amt="30000"/>
          </a:blip>
          <a:stretch>
            <a:fillRect/>
          </a:stretch>
        </p:blipFill>
        <p:spPr>
          <a:xfrm rot="0">
            <a:off x="4013200" y="7797800"/>
            <a:ext cx="342900" cy="838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4">
            <a:alphaModFix amt="30000"/>
          </a:blip>
          <a:stretch>
            <a:fillRect/>
          </a:stretch>
        </p:blipFill>
        <p:spPr>
          <a:xfrm rot="0">
            <a:off x="4546600" y="7797800"/>
            <a:ext cx="342900" cy="838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5">
            <a:alphaModFix amt="30000"/>
          </a:blip>
          <a:stretch>
            <a:fillRect/>
          </a:stretch>
        </p:blipFill>
        <p:spPr>
          <a:xfrm rot="0">
            <a:off x="5105400" y="7797800"/>
            <a:ext cx="342900" cy="838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6">
            <a:alphaModFix amt="30000"/>
          </a:blip>
          <a:stretch>
            <a:fillRect/>
          </a:stretch>
        </p:blipFill>
        <p:spPr>
          <a:xfrm rot="0">
            <a:off x="5638800" y="7797800"/>
            <a:ext cx="342900" cy="838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7">
            <a:alphaModFix amt="30000"/>
          </a:blip>
          <a:stretch>
            <a:fillRect/>
          </a:stretch>
        </p:blipFill>
        <p:spPr>
          <a:xfrm rot="0">
            <a:off x="6184900" y="7797800"/>
            <a:ext cx="342900" cy="8382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8">
            <a:alphaModFix amt="30000"/>
          </a:blip>
          <a:stretch>
            <a:fillRect/>
          </a:stretch>
        </p:blipFill>
        <p:spPr>
          <a:xfrm rot="0">
            <a:off x="6718300" y="7797800"/>
            <a:ext cx="342900" cy="838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9">
            <a:alphaModFix amt="30000"/>
          </a:blip>
          <a:stretch>
            <a:fillRect/>
          </a:stretch>
        </p:blipFill>
        <p:spPr>
          <a:xfrm rot="0">
            <a:off x="1879600" y="7797800"/>
            <a:ext cx="342900" cy="838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0">
            <a:alphaModFix amt="30000"/>
          </a:blip>
          <a:stretch>
            <a:fillRect/>
          </a:stretch>
        </p:blipFill>
        <p:spPr>
          <a:xfrm rot="0">
            <a:off x="2413000" y="7797800"/>
            <a:ext cx="342900" cy="838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1">
            <a:alphaModFix amt="30000"/>
          </a:blip>
          <a:stretch>
            <a:fillRect/>
          </a:stretch>
        </p:blipFill>
        <p:spPr>
          <a:xfrm rot="0">
            <a:off x="1676400" y="9055100"/>
            <a:ext cx="6184900" cy="45720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9169400" y="5130800"/>
            <a:ext cx="3378200" cy="3835400"/>
          </a:xfrm>
          <a:prstGeom prst="rect">
            <a:avLst/>
          </a:prstGeom>
        </p:spPr>
      </p:pic>
      <p:sp>
        <p:nvSpPr>
          <p:cNvPr name="TextBox 46" id="46"/>
          <p:cNvSpPr txBox="true"/>
          <p:nvPr/>
        </p:nvSpPr>
        <p:spPr>
          <a:xfrm rot="0">
            <a:off x="9944100" y="6705600"/>
            <a:ext cx="1828800" cy="685800"/>
          </a:xfrm>
          <a:prstGeom prst="rect">
            <a:avLst/>
          </a:prstGeom>
        </p:spPr>
        <p:txBody>
          <a:bodyPr anchor="ctr" rtlCol="false" lIns="0" tIns="35429" rIns="0" bIns="35429"/>
          <a:lstStyle/>
          <a:p>
            <a:pPr algn="ctr" lvl="0">
              <a:lnSpc>
                <a:spcPct val="102089"/>
              </a:lnSpc>
            </a:pPr>
            <a:r>
              <a:rPr lang="en-US" sz="2042" b="false" i="false" u="none" strike="noStrike" spc="-200">
                <a:solidFill>
                  <a:srgbClr val="281153"/>
                </a:solidFill>
                <a:latin typeface="Pretendard Black"/>
                <a:ea typeface="Pretendard Black"/>
                <a:cs typeface="Pretendard Black"/>
              </a:rPr>
              <a:t>고령자 안전사고</a:t>
            </a:r>
          </a:p>
          <a:p>
            <a:pPr algn="ctr" lvl="0">
              <a:lnSpc>
                <a:spcPct val="102089"/>
              </a:lnSpc>
            </a:pPr>
            <a:r>
              <a:rPr lang="en-US" sz="2042" b="false" i="false" u="none" strike="noStrike" spc="-200">
                <a:solidFill>
                  <a:srgbClr val="281153"/>
                </a:solidFill>
                <a:latin typeface="Pretendard Black"/>
                <a:ea typeface="Pretendard Black"/>
                <a:cs typeface="Pretendard Black"/>
              </a:rPr>
              <a:t>총 23,561건</a:t>
            </a:r>
            <a:r>
              <a:rPr lang="en-US" sz="2042" b="false" i="false" u="none" strike="noStrike" spc="-200">
                <a:solidFill>
                  <a:srgbClr val="281153"/>
                </a:solidFill>
                <a:latin typeface="Pretendard Black"/>
                <a:ea typeface="Pretendard Black"/>
                <a:cs typeface="Pretendard Black"/>
              </a:rPr>
              <a:t/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9169400" y="8826500"/>
            <a:ext cx="5956300" cy="47498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34">
            <a:alphaModFix amt="30000"/>
          </a:blip>
          <a:stretch>
            <a:fillRect/>
          </a:stretch>
        </p:blipFill>
        <p:spPr>
          <a:xfrm rot="0">
            <a:off x="16065500" y="9334500"/>
            <a:ext cx="7848600" cy="34163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5">
            <a:alphaModFix amt="30000"/>
          </a:blip>
          <a:stretch>
            <a:fillRect/>
          </a:stretch>
        </p:blipFill>
        <p:spPr>
          <a:xfrm rot="0">
            <a:off x="16065500" y="5905500"/>
            <a:ext cx="1955800" cy="29210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6">
            <a:alphaModFix amt="30000"/>
          </a:blip>
          <a:stretch>
            <a:fillRect/>
          </a:stretch>
        </p:blipFill>
        <p:spPr>
          <a:xfrm rot="0">
            <a:off x="21463000" y="5905500"/>
            <a:ext cx="2451100" cy="23622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37">
            <a:alphaModFix amt="30000"/>
          </a:blip>
          <a:stretch>
            <a:fillRect/>
          </a:stretch>
        </p:blipFill>
        <p:spPr>
          <a:xfrm rot="0">
            <a:off x="19164300" y="6489700"/>
            <a:ext cx="1460500" cy="13843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38">
            <a:alphaModFix amt="35000"/>
          </a:blip>
          <a:stretch>
            <a:fillRect/>
          </a:stretch>
        </p:blipFill>
        <p:spPr>
          <a:xfrm rot="16200000">
            <a:off x="11988800" y="6705600"/>
            <a:ext cx="1701800" cy="1701800"/>
          </a:xfrm>
          <a:prstGeom prst="rect">
            <a:avLst/>
          </a:prstGeom>
        </p:spPr>
      </p:pic>
      <p:sp>
        <p:nvSpPr>
          <p:cNvPr name="TextBox 53" id="53"/>
          <p:cNvSpPr txBox="true"/>
          <p:nvPr/>
        </p:nvSpPr>
        <p:spPr>
          <a:xfrm rot="0">
            <a:off x="12915900" y="7213600"/>
            <a:ext cx="1828800" cy="685800"/>
          </a:xfrm>
          <a:prstGeom prst="rect">
            <a:avLst/>
          </a:prstGeom>
        </p:spPr>
        <p:txBody>
          <a:bodyPr anchor="ctr" rtlCol="false" lIns="0" tIns="35429" rIns="0" bIns="35429"/>
          <a:lstStyle/>
          <a:p>
            <a:pPr algn="ctr" lvl="0">
              <a:lnSpc>
                <a:spcPct val="102089"/>
              </a:lnSpc>
            </a:pPr>
            <a:r>
              <a:rPr lang="en-US" sz="2042" b="false" i="false" u="none" strike="noStrike" spc="-200">
                <a:solidFill>
                  <a:srgbClr val="281153"/>
                </a:solidFill>
                <a:latin typeface="Pretendard Black"/>
                <a:ea typeface="Pretendard Black"/>
                <a:cs typeface="Pretendard Black"/>
              </a:rPr>
              <a:t>낙상 사고62.7%(14,778건)</a:t>
            </a: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29300" y="2908300"/>
            <a:ext cx="5067300" cy="212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47700" y="2819400"/>
            <a:ext cx="5067300" cy="2120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308100" y="2908300"/>
            <a:ext cx="5067300" cy="2120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12100" y="2908300"/>
            <a:ext cx="5067300" cy="2120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100" y="1358900"/>
            <a:ext cx="74168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현 사회 문제점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2400" y="596900"/>
            <a:ext cx="3175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3" b="false" i="false" u="none" strike="noStrike" cap="all">
                <a:solidFill>
                  <a:srgbClr val="000000"/>
                </a:solidFill>
                <a:latin typeface="Murecho SemiBold"/>
                <a:ea typeface="Murecho SemiBold"/>
                <a:cs typeface="Murecho SemiBold"/>
              </a:rPr>
              <a:t>문제 &amp; 솔루션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575300" y="9220200"/>
            <a:ext cx="63500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700000" y="9220200"/>
            <a:ext cx="6350000" cy="12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314700" y="4597400"/>
            <a:ext cx="3505200" cy="2527300"/>
          </a:xfrm>
          <a:prstGeom prst="rect">
            <a:avLst/>
          </a:prstGeom>
        </p:spPr>
        <p:txBody>
          <a:bodyPr anchor="ctr" rtlCol="false" lIns="0" tIns="57508" rIns="0" bIns="57508"/>
          <a:lstStyle/>
          <a:p>
            <a:pPr algn="ctr" lvl="1" marL="342900" indent="-342900">
              <a:lnSpc>
                <a:spcPct val="99600"/>
              </a:lnSpc>
              <a:buAutoNum type="arabicPeriod" startAt="1"/>
            </a:pPr>
            <a:r>
              <a:rPr lang="en-US" sz="4528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초고령사회</a:t>
            </a:r>
            <a:r>
              <a:rPr lang="en-US" sz="4528" b="false" i="false" u="none" strike="noStrike" spc="-200">
                <a:solidFill>
                  <a:srgbClr val="FFFFFF"/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0">
            <a:off x="3086100" y="3035300"/>
            <a:ext cx="3378200" cy="1689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556000" y="3035300"/>
            <a:ext cx="2336800" cy="1676400"/>
          </a:xfrm>
          <a:prstGeom prst="rect">
            <a:avLst/>
          </a:prstGeom>
        </p:spPr>
        <p:txBody>
          <a:bodyPr anchor="ctr" rtlCol="false" lIns="0" tIns="38262" rIns="0" bIns="38262"/>
          <a:lstStyle/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Pretendard Bold"/>
                <a:ea typeface="Pretendard Bold"/>
                <a:cs typeface="Pretendard Bold"/>
              </a:rPr>
              <a:t>초고령사회</a:t>
            </a: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10426700" y="3035300"/>
            <a:ext cx="3378200" cy="16891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350500" y="2806700"/>
            <a:ext cx="3365500" cy="2133600"/>
          </a:xfrm>
          <a:prstGeom prst="rect">
            <a:avLst/>
          </a:prstGeom>
        </p:spPr>
        <p:txBody>
          <a:bodyPr anchor="ctr" rtlCol="false" lIns="0" tIns="38262" rIns="0" bIns="38262"/>
          <a:lstStyle/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Pretendard Bold"/>
                <a:ea typeface="Pretendard Bold"/>
                <a:cs typeface="Pretendard Bold"/>
              </a:rPr>
              <a:t>노인 근골격계</a:t>
            </a:r>
          </a:p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Pretendard Bold"/>
                <a:ea typeface="Pretendard Bold"/>
                <a:cs typeface="Pretendard Bold"/>
              </a:rPr>
              <a:t> 질환 및 낙상</a:t>
            </a:r>
            <a:r>
              <a:rPr lang="en-US" sz="3012" b="false" i="false" u="none" strike="noStrike" spc="-100">
                <a:solidFill>
                  <a:srgbClr val="FFFFFF">
                    <a:alpha val="30196"/>
                  </a:srgbClr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767300" y="2717800"/>
            <a:ext cx="4445000" cy="2222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7792700" y="2298700"/>
            <a:ext cx="4394200" cy="2832100"/>
          </a:xfrm>
          <a:prstGeom prst="rect">
            <a:avLst/>
          </a:prstGeom>
        </p:spPr>
        <p:txBody>
          <a:bodyPr anchor="ctr" rtlCol="false" lIns="0" tIns="50800" rIns="0" bIns="50800"/>
          <a:lstStyle/>
          <a:p>
            <a:pPr algn="ctr" lvl="0">
              <a:lnSpc>
                <a:spcPct val="99600"/>
              </a:lnSpc>
            </a:pPr>
            <a:r>
              <a:rPr lang="en-US" sz="4000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기존 헬스케어</a:t>
            </a:r>
          </a:p>
          <a:p>
            <a:pPr algn="ctr" lvl="0">
              <a:lnSpc>
                <a:spcPct val="99600"/>
              </a:lnSpc>
            </a:pPr>
            <a:r>
              <a:rPr lang="en-US" sz="4000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한계 및 디지털 소외</a:t>
            </a:r>
            <a:r>
              <a:rPr lang="en-US" sz="4000" b="false" i="false" u="none" strike="noStrike" spc="-100">
                <a:solidFill>
                  <a:srgbClr val="FFFFFF"/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88900" y="6731000"/>
            <a:ext cx="24511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6079"/>
              </a:lnSpc>
            </a:pPr>
            <a:r>
              <a:rPr lang="en-US" sz="2452" b="false" i="false" u="none" strike="noStrike" spc="-200">
                <a:solidFill>
                  <a:srgbClr val="002C99">
                    <a:alpha val="30196"/>
                  </a:srgbClr>
                </a:solidFill>
                <a:latin typeface="Noto Sans CJK KR Bold"/>
                <a:ea typeface="Noto Sans CJK KR Bold"/>
                <a:cs typeface="Noto Sans CJK KR Bold"/>
              </a:rPr>
              <a:t>한국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88900" y="7988300"/>
            <a:ext cx="24511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6079"/>
              </a:lnSpc>
            </a:pPr>
            <a:r>
              <a:rPr lang="en-US" sz="2452" b="false" i="false" u="none" strike="noStrike" spc="-200">
                <a:solidFill>
                  <a:srgbClr val="002C99">
                    <a:alpha val="30196"/>
                  </a:srgbClr>
                </a:solidFill>
                <a:latin typeface="Noto Sans CJK KR Bold"/>
                <a:ea typeface="Noto Sans CJK KR Bold"/>
                <a:cs typeface="Noto Sans CJK KR Bold"/>
              </a:rPr>
              <a:t>일본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53300" y="6464300"/>
            <a:ext cx="12573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86" b="false" i="false" u="none" strike="noStrike">
                <a:solidFill>
                  <a:srgbClr val="002C99">
                    <a:alpha val="30196"/>
                  </a:srgbClr>
                </a:solidFill>
                <a:latin typeface="Swagger TTF"/>
                <a:ea typeface="Swagger TTF"/>
                <a:cs typeface="Swagger TTF"/>
              </a:rPr>
              <a:t>20.3 %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53300" y="7721600"/>
            <a:ext cx="12573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86" b="false" i="false" u="none" strike="noStrike">
                <a:solidFill>
                  <a:srgbClr val="002C99">
                    <a:alpha val="30196"/>
                  </a:srgbClr>
                </a:solidFill>
                <a:latin typeface="Swagger TTF"/>
                <a:ea typeface="Swagger TTF"/>
                <a:cs typeface="Swagger TTF"/>
              </a:rPr>
              <a:t>29.4 %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4400" y="5041900"/>
            <a:ext cx="7848600" cy="1574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4414" b="0" i="0" u="none" strike="noStrike">
                <a:solidFill>
                  <a:srgbClr val="002c99">
                    <a:alpha val="30196"/>
                  </a:srgbClr>
                </a:solidFill>
                <a:latin typeface="Swagger TTF"/>
                <a:ea typeface="Swagger TTF"/>
                <a:cs typeface="Swagger TTF"/>
              </a:rPr>
              <a:t>노인 인구 비율(65세 이상)</a:t>
            </a:r>
            <a:endParaRPr lang="en-US" sz="4414" b="0" i="0" u="none" strike="noStrike">
              <a:solidFill>
                <a:srgbClr val="002c99">
                  <a:alpha val="30196"/>
                </a:srgbClr>
              </a:solidFill>
              <a:latin typeface="Swagger TTF"/>
              <a:ea typeface="Swagger TTF"/>
              <a:cs typeface="Swagger TTF"/>
            </a:endParaRP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2933700" y="6540500"/>
            <a:ext cx="342900" cy="838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0">
            <a:off x="3467100" y="6540500"/>
            <a:ext cx="342900" cy="838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alphaModFix amt="30000"/>
          </a:blip>
          <a:stretch>
            <a:fillRect/>
          </a:stretch>
        </p:blipFill>
        <p:spPr>
          <a:xfrm rot="0">
            <a:off x="4013200" y="6540500"/>
            <a:ext cx="342900" cy="83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4">
            <a:alphaModFix amt="30000"/>
          </a:blip>
          <a:stretch>
            <a:fillRect/>
          </a:stretch>
        </p:blipFill>
        <p:spPr>
          <a:xfrm rot="0">
            <a:off x="4546600" y="6540500"/>
            <a:ext cx="342900" cy="838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5">
            <a:alphaModFix amt="30000"/>
          </a:blip>
          <a:stretch>
            <a:fillRect/>
          </a:stretch>
        </p:blipFill>
        <p:spPr>
          <a:xfrm rot="0">
            <a:off x="5105400" y="6540500"/>
            <a:ext cx="342900" cy="838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5638800" y="6540500"/>
            <a:ext cx="342900" cy="838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0">
            <a:off x="6184900" y="6540500"/>
            <a:ext cx="342900" cy="838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>
            <a:alphaModFix amt="30000"/>
          </a:blip>
          <a:stretch>
            <a:fillRect/>
          </a:stretch>
        </p:blipFill>
        <p:spPr>
          <a:xfrm rot="0">
            <a:off x="6718300" y="6540500"/>
            <a:ext cx="342900" cy="838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0">
            <a:off x="1879600" y="6540500"/>
            <a:ext cx="342900" cy="838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0">
            <a:off x="2413000" y="6540500"/>
            <a:ext cx="342900" cy="838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2933700" y="7797800"/>
            <a:ext cx="342900" cy="838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3467100" y="7797800"/>
            <a:ext cx="342900" cy="838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3">
            <a:alphaModFix amt="30000"/>
          </a:blip>
          <a:stretch>
            <a:fillRect/>
          </a:stretch>
        </p:blipFill>
        <p:spPr>
          <a:xfrm rot="0">
            <a:off x="4013200" y="7797800"/>
            <a:ext cx="342900" cy="838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4">
            <a:alphaModFix amt="30000"/>
          </a:blip>
          <a:stretch>
            <a:fillRect/>
          </a:stretch>
        </p:blipFill>
        <p:spPr>
          <a:xfrm rot="0">
            <a:off x="4546600" y="7797800"/>
            <a:ext cx="342900" cy="838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5">
            <a:alphaModFix amt="30000"/>
          </a:blip>
          <a:stretch>
            <a:fillRect/>
          </a:stretch>
        </p:blipFill>
        <p:spPr>
          <a:xfrm rot="0">
            <a:off x="5105400" y="7797800"/>
            <a:ext cx="342900" cy="838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6">
            <a:alphaModFix amt="30000"/>
          </a:blip>
          <a:stretch>
            <a:fillRect/>
          </a:stretch>
        </p:blipFill>
        <p:spPr>
          <a:xfrm rot="0">
            <a:off x="5638800" y="7797800"/>
            <a:ext cx="342900" cy="838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7">
            <a:alphaModFix amt="30000"/>
          </a:blip>
          <a:stretch>
            <a:fillRect/>
          </a:stretch>
        </p:blipFill>
        <p:spPr>
          <a:xfrm rot="0">
            <a:off x="6184900" y="7797800"/>
            <a:ext cx="342900" cy="8382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8">
            <a:alphaModFix amt="30000"/>
          </a:blip>
          <a:stretch>
            <a:fillRect/>
          </a:stretch>
        </p:blipFill>
        <p:spPr>
          <a:xfrm rot="0">
            <a:off x="6718300" y="7797800"/>
            <a:ext cx="342900" cy="838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9">
            <a:alphaModFix amt="30000"/>
          </a:blip>
          <a:stretch>
            <a:fillRect/>
          </a:stretch>
        </p:blipFill>
        <p:spPr>
          <a:xfrm rot="0">
            <a:off x="1879600" y="7797800"/>
            <a:ext cx="342900" cy="838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0">
            <a:alphaModFix amt="30000"/>
          </a:blip>
          <a:stretch>
            <a:fillRect/>
          </a:stretch>
        </p:blipFill>
        <p:spPr>
          <a:xfrm rot="0">
            <a:off x="2413000" y="7797800"/>
            <a:ext cx="342900" cy="838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1">
            <a:alphaModFix amt="30000"/>
          </a:blip>
          <a:stretch>
            <a:fillRect/>
          </a:stretch>
        </p:blipFill>
        <p:spPr>
          <a:xfrm rot="0">
            <a:off x="1676400" y="9055100"/>
            <a:ext cx="6184900" cy="45720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2">
            <a:alphaModFix amt="30000"/>
          </a:blip>
          <a:stretch>
            <a:fillRect/>
          </a:stretch>
        </p:blipFill>
        <p:spPr>
          <a:xfrm rot="0">
            <a:off x="10617200" y="5029200"/>
            <a:ext cx="3378200" cy="3835400"/>
          </a:xfrm>
          <a:prstGeom prst="rect">
            <a:avLst/>
          </a:prstGeom>
        </p:spPr>
      </p:pic>
      <p:sp>
        <p:nvSpPr>
          <p:cNvPr name="TextBox 46" id="46"/>
          <p:cNvSpPr txBox="true"/>
          <p:nvPr/>
        </p:nvSpPr>
        <p:spPr>
          <a:xfrm rot="0">
            <a:off x="11391900" y="6604000"/>
            <a:ext cx="1828800" cy="685800"/>
          </a:xfrm>
          <a:prstGeom prst="rect">
            <a:avLst/>
          </a:prstGeom>
        </p:spPr>
        <p:txBody>
          <a:bodyPr anchor="ctr" rtlCol="false" lIns="0" tIns="35429" rIns="0" bIns="35429"/>
          <a:lstStyle/>
          <a:p>
            <a:pPr algn="ctr" lvl="0">
              <a:lnSpc>
                <a:spcPct val="102089"/>
              </a:lnSpc>
            </a:pPr>
            <a:r>
              <a:rPr lang="en-US" sz="2042" b="false" i="false" u="none" strike="noStrike" spc="-200">
                <a:solidFill>
                  <a:srgbClr val="281153">
                    <a:alpha val="30196"/>
                  </a:srgbClr>
                </a:solidFill>
                <a:latin typeface="Pretendard Black"/>
                <a:ea typeface="Pretendard Black"/>
                <a:cs typeface="Pretendard Black"/>
              </a:rPr>
              <a:t>고령자 낙상사고</a:t>
            </a:r>
          </a:p>
          <a:p>
            <a:pPr algn="ctr" lvl="0">
              <a:lnSpc>
                <a:spcPct val="102089"/>
              </a:lnSpc>
            </a:pPr>
            <a:r>
              <a:rPr lang="en-US" sz="2042" b="false" i="false" u="none" strike="noStrike" spc="-200">
                <a:solidFill>
                  <a:srgbClr val="281153">
                    <a:alpha val="30196"/>
                  </a:srgbClr>
                </a:solidFill>
                <a:latin typeface="Pretendard Black"/>
                <a:ea typeface="Pretendard Black"/>
                <a:cs typeface="Pretendard Black"/>
              </a:rPr>
              <a:t>총 23,561건</a:t>
            </a:r>
            <a:r>
              <a:rPr lang="en-US" sz="2042" b="false" i="false" u="none" strike="noStrike" spc="-200">
                <a:solidFill>
                  <a:srgbClr val="281153">
                    <a:alpha val="30196"/>
                  </a:srgbClr>
                </a:solidFill>
                <a:latin typeface="Pretendard Black"/>
                <a:ea typeface="Pretendard Black"/>
                <a:cs typeface="Pretendard Black"/>
              </a:rPr>
              <a:t/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33">
            <a:alphaModFix amt="30000"/>
          </a:blip>
          <a:stretch>
            <a:fillRect/>
          </a:stretch>
        </p:blipFill>
        <p:spPr>
          <a:xfrm rot="0">
            <a:off x="9169400" y="8826500"/>
            <a:ext cx="5956300" cy="47498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6065500" y="9334500"/>
            <a:ext cx="7848600" cy="34163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6065500" y="5905500"/>
            <a:ext cx="1955800" cy="29210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1463000" y="5905500"/>
            <a:ext cx="2451100" cy="23622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9164300" y="6489700"/>
            <a:ext cx="1460500" cy="138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41500" y="2197100"/>
            <a:ext cx="20980400" cy="1282700"/>
          </a:xfrm>
          <a:prstGeom prst="rect">
            <a:avLst/>
          </a:prstGeom>
        </p:spPr>
        <p:txBody>
          <a:bodyPr anchor="ctr" rtlCol="false" lIns="0" tIns="91438" rIns="0" bIns="91438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Pretendard Black"/>
                <a:ea typeface="Pretendard Black"/>
                <a:cs typeface="Pretendard Black"/>
              </a:rPr>
              <a:t> </a:t>
            </a:r>
            <a:r>
              <a:rPr lang="en-US" sz="7198" b="false" i="false" u="none" strike="noStrike" spc="-100">
                <a:solidFill>
                  <a:srgbClr val="0040E0"/>
                </a:solidFill>
                <a:latin typeface="Pretendard Black"/>
                <a:ea typeface="Pretendard Black"/>
                <a:cs typeface="Pretendard Black"/>
              </a:rPr>
              <a:t>Tro-Fit</a:t>
            </a:r>
            <a:r>
              <a:rPr lang="en-US" sz="6666" b="false" i="false" u="none" strike="noStrike" spc="-100">
                <a:solidFill>
                  <a:srgbClr val="0040E0"/>
                </a:solidFill>
                <a:latin typeface="Pretendard Black"/>
                <a:ea typeface="Pretendard Black"/>
                <a:cs typeface="Pretendard Black"/>
              </a:rPr>
              <a:t>:</a:t>
            </a:r>
            <a:r>
              <a:rPr lang="en-US" sz="6666" b="false" i="false" u="none" strike="noStrike" spc="-1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 AI 비전 기반 고령층 맞춤형 트로트 댄스 운동 플랫폼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2400" y="596900"/>
            <a:ext cx="3175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3" b="false" i="false" u="none" strike="noStrike" cap="all">
                <a:solidFill>
                  <a:srgbClr val="000000"/>
                </a:solidFill>
                <a:latin typeface="Murecho SemiBold"/>
                <a:ea typeface="Murecho SemiBold"/>
                <a:cs typeface="Murecho SemiBold"/>
              </a:rPr>
              <a:t>문제 &amp; 솔루션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07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499100" y="7353300"/>
            <a:ext cx="1371600" cy="368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35100" y="4368800"/>
            <a:ext cx="3060700" cy="3060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05100" y="4330700"/>
            <a:ext cx="457200" cy="914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79600" y="6070600"/>
            <a:ext cx="2197100" cy="4013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886700" y="4787900"/>
            <a:ext cx="3073400" cy="5486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60100" y="4787900"/>
            <a:ext cx="4229100" cy="5486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192500" y="7353300"/>
            <a:ext cx="1371600" cy="368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8580100" y="4127500"/>
            <a:ext cx="5130800" cy="3556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066000" y="4826000"/>
            <a:ext cx="2501900" cy="2159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383500" y="7696200"/>
            <a:ext cx="1524000" cy="3238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41400" y="11239500"/>
            <a:ext cx="3949700" cy="1041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651000" y="11417300"/>
            <a:ext cx="27432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ctr" lvl="0">
              <a:lnSpc>
                <a:spcPct val="99600"/>
              </a:lnSpc>
            </a:pPr>
            <a:r>
              <a:rPr lang="en-US" sz="3733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관절 측정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550400" y="11239500"/>
            <a:ext cx="3949700" cy="10414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3530600" y="927100"/>
            <a:ext cx="16002000" cy="21653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00" b="false" i="false" u="none" strike="noStrike">
                <a:solidFill>
                  <a:srgbClr val="FAFA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31400" y="11417300"/>
            <a:ext cx="32131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ctr" lvl="0">
              <a:lnSpc>
                <a:spcPct val="99600"/>
              </a:lnSpc>
            </a:pPr>
            <a:r>
              <a:rPr lang="en-US" sz="3733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각도 계산&amp;진단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342100" y="11239500"/>
            <a:ext cx="3949700" cy="1041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9291300" y="11417300"/>
            <a:ext cx="4076700" cy="660400"/>
          </a:xfrm>
          <a:prstGeom prst="rect">
            <a:avLst/>
          </a:prstGeom>
        </p:spPr>
        <p:txBody>
          <a:bodyPr lIns="0" tIns="47412" rIns="0" bIns="47412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37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맞춤 운동 안무 생성</a:t>
            </a:r>
            <a:endParaRPr lang="en-US" sz="3733" b="0" i="0" u="none" strike="noStrike" spc="-10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829300" y="2908300"/>
            <a:ext cx="5067300" cy="212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347700" y="2819400"/>
            <a:ext cx="5067300" cy="2120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308100" y="2908300"/>
            <a:ext cx="5067300" cy="2120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612100" y="2908300"/>
            <a:ext cx="5067300" cy="21209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100" y="1358900"/>
            <a:ext cx="74168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솔루션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2400" y="596900"/>
            <a:ext cx="3175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3" b="false" i="false" u="none" strike="noStrike" cap="all">
                <a:solidFill>
                  <a:srgbClr val="000000"/>
                </a:solidFill>
                <a:latin typeface="Murecho SemiBold"/>
                <a:ea typeface="Murecho SemiBold"/>
                <a:cs typeface="Murecho SemiBold"/>
              </a:rPr>
              <a:t>문제 &amp; 솔루션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575300" y="9220200"/>
            <a:ext cx="63500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700000" y="9220200"/>
            <a:ext cx="6350000" cy="12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848100" y="4559300"/>
            <a:ext cx="3505200" cy="2527300"/>
          </a:xfrm>
          <a:prstGeom prst="rect">
            <a:avLst/>
          </a:prstGeom>
        </p:spPr>
        <p:txBody>
          <a:bodyPr anchor="ctr" rtlCol="false" lIns="0" tIns="57508" rIns="0" bIns="57508"/>
          <a:lstStyle/>
          <a:p>
            <a:pPr algn="ctr" lvl="1" marL="342900" indent="-342900">
              <a:lnSpc>
                <a:spcPct val="99600"/>
              </a:lnSpc>
              <a:buAutoNum type="arabicPeriod" startAt="1"/>
            </a:pPr>
            <a:r>
              <a:rPr lang="en-US" sz="4528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초고령사회</a:t>
            </a:r>
            <a:r>
              <a:rPr lang="en-US" sz="4528" b="false" i="false" u="none" strike="noStrike" spc="-200">
                <a:solidFill>
                  <a:srgbClr val="FFFFFF"/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086100" y="3035300"/>
            <a:ext cx="3378200" cy="1689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556000" y="3035300"/>
            <a:ext cx="2336800" cy="1676400"/>
          </a:xfrm>
          <a:prstGeom prst="rect">
            <a:avLst/>
          </a:prstGeom>
        </p:spPr>
        <p:txBody>
          <a:bodyPr anchor="ctr" rtlCol="false" lIns="0" tIns="38262" rIns="0" bIns="38262"/>
          <a:lstStyle/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초고령사회</a:t>
            </a:r>
            <a:r>
              <a:rPr lang="en-US" sz="3012" b="false" i="false" u="none" strike="noStrike" spc="-100">
                <a:solidFill>
                  <a:srgbClr val="FFFFFF"/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52100" y="3035300"/>
            <a:ext cx="3378200" cy="16891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375900" y="2806700"/>
            <a:ext cx="3365500" cy="2133600"/>
          </a:xfrm>
          <a:prstGeom prst="rect">
            <a:avLst/>
          </a:prstGeom>
        </p:spPr>
        <p:txBody>
          <a:bodyPr anchor="ctr" rtlCol="false" lIns="0" tIns="38262" rIns="0" bIns="38262"/>
          <a:lstStyle/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노인 근골격계</a:t>
            </a:r>
          </a:p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질환 및 낙상</a:t>
            </a:r>
            <a:r>
              <a:rPr lang="en-US" sz="3012" b="false" i="false" u="none" strike="noStrike" spc="-100">
                <a:solidFill>
                  <a:srgbClr val="FFFFFF"/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818100" y="3035300"/>
            <a:ext cx="3378200" cy="1689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7780000" y="2806700"/>
            <a:ext cx="3467100" cy="2133600"/>
          </a:xfrm>
          <a:prstGeom prst="rect">
            <a:avLst/>
          </a:prstGeom>
        </p:spPr>
        <p:txBody>
          <a:bodyPr anchor="ctr" rtlCol="false" lIns="0" tIns="38262" rIns="0" bIns="38262"/>
          <a:lstStyle/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기존 헬스케어</a:t>
            </a:r>
          </a:p>
          <a:p>
            <a:pPr algn="ctr" lvl="0">
              <a:lnSpc>
                <a:spcPct val="99600"/>
              </a:lnSpc>
            </a:pPr>
            <a:r>
              <a:rPr lang="en-US" sz="3012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한계 및 디지털 소외</a:t>
            </a:r>
            <a:r>
              <a:rPr lang="en-US" sz="3012" b="false" i="false" u="none" strike="noStrike" spc="-100">
                <a:solidFill>
                  <a:srgbClr val="FFFFFF"/>
                </a:solidFill>
                <a:latin typeface="Murecho ExtraBold"/>
                <a:ea typeface="Murecho ExtraBold"/>
                <a:cs typeface="Murecho ExtraBold"/>
              </a:rPr>
              <a:t> 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82800" y="5829300"/>
            <a:ext cx="1536700" cy="167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829300" y="6096000"/>
            <a:ext cx="1638300" cy="1638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65300" y="7708900"/>
            <a:ext cx="6350000" cy="12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65300" y="10452100"/>
            <a:ext cx="6350000" cy="12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664200" y="8267700"/>
            <a:ext cx="2209800" cy="1727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991100" y="10477500"/>
            <a:ext cx="3556000" cy="3556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943100" y="11188700"/>
            <a:ext cx="2273300" cy="2120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460500" y="7543800"/>
            <a:ext cx="2997200" cy="2997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4445000" y="9029700"/>
            <a:ext cx="990600" cy="393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944100" y="5689600"/>
            <a:ext cx="1028700" cy="1917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47700" y="5702300"/>
            <a:ext cx="1905000" cy="1905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131300" y="7696200"/>
            <a:ext cx="6350000" cy="12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9017000" y="10439400"/>
            <a:ext cx="6350000" cy="12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3512800" y="7924800"/>
            <a:ext cx="1219200" cy="21971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0045700" y="8039100"/>
            <a:ext cx="825500" cy="2171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7322800" y="5651500"/>
            <a:ext cx="876300" cy="17399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0408900" y="5651500"/>
            <a:ext cx="2908300" cy="1854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808700" y="6311900"/>
            <a:ext cx="1435100" cy="355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6802100" y="7734300"/>
            <a:ext cx="6350000" cy="127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802100" y="10414000"/>
            <a:ext cx="6350000" cy="127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7322800" y="8712200"/>
            <a:ext cx="1841500" cy="13970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9926300" y="8826500"/>
            <a:ext cx="685800" cy="1181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1755100" y="8686800"/>
            <a:ext cx="609600" cy="15240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1811000" y="8826500"/>
            <a:ext cx="990600" cy="3937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3200400" y="4978400"/>
            <a:ext cx="29591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sz="385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자가 진단</a:t>
            </a:r>
            <a:endParaRPr lang="en-US" sz="3857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276600" y="7772400"/>
            <a:ext cx="30480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sz="385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가정 내 예방</a:t>
            </a:r>
            <a:endParaRPr lang="en-US" sz="3857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name="TextBox 45" id="45"/>
          <p:cNvSpPr txBox="true"/>
          <p:nvPr/>
        </p:nvSpPr>
        <p:spPr>
          <a:xfrm rot="0">
            <a:off x="3683000" y="10566400"/>
            <a:ext cx="25146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의료비 절감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287000" y="5029200"/>
            <a:ext cx="35814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sz="385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정밀 관절 각도</a:t>
            </a:r>
            <a:endParaRPr lang="en-US" sz="3857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0668000" y="7772400"/>
            <a:ext cx="29718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sz="385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적정 안무</a:t>
            </a:r>
            <a:endParaRPr lang="en-US" sz="3857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name="TextBox 48" id="48"/>
          <p:cNvSpPr txBox="true"/>
          <p:nvPr/>
        </p:nvSpPr>
        <p:spPr>
          <a:xfrm rot="0">
            <a:off x="18161000" y="5029200"/>
            <a:ext cx="2743200" cy="68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비동기 분리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7830800" y="7772400"/>
            <a:ext cx="3352800" cy="685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sz="3857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배터리 최적화</a:t>
            </a:r>
            <a:endParaRPr lang="en-US" sz="3857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3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93800" y="4889500"/>
            <a:ext cx="16484600" cy="2184400"/>
          </a:xfrm>
          <a:prstGeom prst="rect">
            <a:avLst/>
          </a:prstGeom>
          <a:effectLst>
            <a:outerShdw dir="2700000" dist="76198" blurRad="0">
              <a:srgbClr val="000000">
                <a:alpha val="10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1219200" y="990600"/>
            <a:ext cx="2870200" cy="2374900"/>
          </a:xfrm>
          <a:prstGeom prst="rect">
            <a:avLst/>
          </a:prstGeom>
        </p:spPr>
        <p:txBody>
          <a:bodyPr anchor="t" rtlCol="false" lIns="0" tIns="84665" rIns="0" bIns="0"/>
          <a:lstStyle/>
          <a:p>
            <a:pPr algn="l" lvl="0">
              <a:lnSpc>
                <a:spcPct val="107899"/>
              </a:lnSpc>
            </a:pPr>
            <a:r>
              <a:rPr lang="en-US" sz="13333" b="false" i="false" u="none" strike="noStrike" spc="-2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3100" y="1358900"/>
            <a:ext cx="74168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시장 &amp; BM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2400" y="596900"/>
            <a:ext cx="3175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3" b="false" i="false" u="none" strike="noStrike" cap="all">
                <a:solidFill>
                  <a:srgbClr val="000000"/>
                </a:solidFill>
                <a:latin typeface="Murecho SemiBold"/>
                <a:ea typeface="Murecho SemiBold"/>
                <a:cs typeface="Murecho SemiBold"/>
              </a:rPr>
              <a:t>시장&amp;BM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461000" y="8318500"/>
            <a:ext cx="63500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585700" y="8331200"/>
            <a:ext cx="63500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124200" y="5346700"/>
            <a:ext cx="3949700" cy="10414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917700" y="6896100"/>
            <a:ext cx="62992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999" b="false" i="false" u="none" strike="noStrike" spc="-100">
                <a:solidFill>
                  <a:srgbClr val="000000"/>
                </a:solidFill>
                <a:highlight>
                  <a:srgbClr val="FFFFFF"/>
                </a:highlight>
                <a:latin typeface="Pretendard Bold"/>
                <a:ea typeface="Pretendard Bold"/>
                <a:cs typeface="Pretendard Bold"/>
              </a:rPr>
              <a:t>2026.03.27</a:t>
            </a:r>
          </a:p>
          <a:p>
            <a:pPr algn="ctr" lvl="0">
              <a:lnSpc>
                <a:spcPct val="116199"/>
              </a:lnSpc>
            </a:pPr>
            <a:r>
              <a:rPr lang="en-US" sz="3999" b="false" i="false" u="none" strike="noStrike" spc="-100">
                <a:solidFill>
                  <a:srgbClr val="000000"/>
                </a:solidFill>
                <a:highlight>
                  <a:srgbClr val="FFFFFF"/>
                </a:highlight>
                <a:latin typeface="Pretendard Bold"/>
                <a:ea typeface="Pretendard Bold"/>
                <a:cs typeface="Pretendard Bold"/>
              </a:rPr>
              <a:t>돌봄통합지원법 시행</a:t>
            </a:r>
            <a:r>
              <a:rPr lang="en-US" sz="3999" b="false" i="false" u="none" strike="noStrike" spc="-100">
                <a:solidFill>
                  <a:srgbClr val="000000"/>
                </a:solidFill>
                <a:highlight>
                  <a:srgbClr val="FFFFFF"/>
                </a:highlight>
                <a:latin typeface="Pretendard Bold"/>
                <a:ea typeface="Pretendard Bold"/>
                <a:cs typeface="Pretendard Bold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33800" y="5524500"/>
            <a:ext cx="27432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ctr" lvl="0">
              <a:lnSpc>
                <a:spcPct val="99600"/>
              </a:lnSpc>
            </a:pPr>
            <a:r>
              <a:rPr lang="en-US" sz="3733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정책적 근거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41700" y="8966200"/>
            <a:ext cx="4140200" cy="5080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Murecho Regular"/>
                <a:ea typeface="Murecho Regular"/>
                <a:cs typeface="Murecho Regular"/>
              </a:rPr>
              <a:t>229개 시군구 전면 시행 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90800" y="8978900"/>
            <a:ext cx="495300" cy="495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3441700" y="9855200"/>
            <a:ext cx="4800600" cy="5080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Murecho Regular"/>
                <a:ea typeface="Murecho Regular"/>
                <a:cs typeface="Murecho Regular"/>
              </a:rPr>
              <a:t>건강관리 노인 운동 프로그램 연계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590800" y="9855200"/>
            <a:ext cx="495300" cy="4953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3441700" y="10693400"/>
            <a:ext cx="4140200" cy="9144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Murecho Regular"/>
                <a:ea typeface="Murecho Regular"/>
                <a:cs typeface="Murecho Regular"/>
              </a:rPr>
              <a:t>전국 보편 서비스 타겟</a:t>
            </a:r>
          </a:p>
          <a:p>
            <a:pPr algn="l" lvl="0">
              <a:lnSpc>
                <a:spcPct val="9960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Murecho Regular"/>
                <a:ea typeface="Murecho Regular"/>
                <a:cs typeface="Murecho Regular"/>
              </a:rPr>
              <a:t>(소득 제한 없이 신청 가능) 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90800" y="10706100"/>
            <a:ext cx="495300" cy="495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48900" y="5346700"/>
            <a:ext cx="3949700" cy="1041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9626600" y="7251700"/>
            <a:ext cx="52705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999" b="false" i="false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지자체 중심의 플랫폼 유통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99700" y="5524500"/>
            <a:ext cx="39116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ctr" lvl="0">
              <a:lnSpc>
                <a:spcPct val="99600"/>
              </a:lnSpc>
            </a:pPr>
            <a:r>
              <a:rPr lang="en-US" sz="3733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B2G 공급 프로세스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79100" y="8966200"/>
            <a:ext cx="4660900" cy="508000"/>
          </a:xfrm>
          <a:prstGeom prst="rect">
            <a:avLst/>
          </a:prstGeom>
        </p:spPr>
        <p:txBody>
          <a:bodyPr lIns="0" tIns="33866" rIns="0" bIns="33866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2666" b="0" i="0" u="none" strike="noStrike" spc="-100">
                <a:solidFill>
                  <a:srgbClr val="000000"/>
                </a:solidFill>
                <a:latin typeface="Murecho Regular"/>
                <a:ea typeface="Murecho Regular"/>
                <a:cs typeface="Murecho Regular"/>
              </a:rPr>
              <a:t>지자체의 TRO-FIT 사용권 구매</a:t>
            </a:r>
            <a:endParaRPr lang="en-US" sz="2666" b="0" i="0" u="none" strike="noStrike" spc="-100">
              <a:solidFill>
                <a:srgbClr val="000000"/>
              </a:solidFill>
              <a:latin typeface="Murecho Regular"/>
              <a:ea typeface="Murecho Regular"/>
              <a:cs typeface="Murecho Regular"/>
            </a:endParaRP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715500" y="8978900"/>
            <a:ext cx="495300" cy="4953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0579100" y="9855200"/>
            <a:ext cx="4140200" cy="5080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Murecho Regular"/>
                <a:ea typeface="Murecho Regular"/>
                <a:cs typeface="Murecho Regular"/>
              </a:rPr>
              <a:t>주민센터 서비스 신청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715500" y="9855200"/>
            <a:ext cx="495300" cy="4953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0579100" y="10706100"/>
            <a:ext cx="4140200" cy="5080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Murecho Regular"/>
                <a:ea typeface="Murecho Regular"/>
                <a:cs typeface="Murecho Regular"/>
              </a:rPr>
              <a:t>어플 설치 및 사용법 교육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715500" y="10706100"/>
            <a:ext cx="495300" cy="495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373600" y="5346700"/>
            <a:ext cx="3949700" cy="1041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5881350" y="7219950"/>
            <a:ext cx="7086600" cy="711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116199"/>
              </a:lnSpc>
              <a:defRPr/>
            </a:pPr>
            <a:r>
              <a:rPr lang="en-US" sz="3999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요양시설 입소 예방 및 부양 경감</a:t>
            </a:r>
            <a:endParaRPr lang="en-US" sz="3999" b="0" i="0" u="none" strike="noStrike" spc="-10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name="TextBox 28" id="28"/>
          <p:cNvSpPr txBox="true"/>
          <p:nvPr/>
        </p:nvSpPr>
        <p:spPr>
          <a:xfrm rot="0">
            <a:off x="18288000" y="5524500"/>
            <a:ext cx="21463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ctr" lvl="0">
              <a:lnSpc>
                <a:spcPct val="99600"/>
              </a:lnSpc>
            </a:pPr>
            <a:r>
              <a:rPr lang="en-US" sz="3733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기대 효과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703800" y="8966200"/>
            <a:ext cx="4140200" cy="5080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Murecho Regular"/>
                <a:ea typeface="Murecho Regular"/>
                <a:cs typeface="Murecho Regular"/>
              </a:rPr>
              <a:t>요양시설 입소율 9.4%p 감소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840200" y="8978900"/>
            <a:ext cx="495300" cy="4953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7703800" y="9855200"/>
            <a:ext cx="4140200" cy="5080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Murecho Regular"/>
                <a:ea typeface="Murecho Regular"/>
                <a:cs typeface="Murecho Regular"/>
              </a:rPr>
              <a:t>요양병원 입원율 4.6%p 감소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840200" y="9855200"/>
            <a:ext cx="495300" cy="4953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7703800" y="10706100"/>
            <a:ext cx="4140200" cy="508000"/>
          </a:xfrm>
          <a:prstGeom prst="rect">
            <a:avLst/>
          </a:prstGeom>
        </p:spPr>
        <p:txBody>
          <a:bodyPr anchor="ctr" rtlCol="false" lIns="0" tIns="33866" rIns="0" bIns="33866"/>
          <a:lstStyle/>
          <a:p>
            <a:pPr algn="l" lvl="0">
              <a:lnSpc>
                <a:spcPct val="99600"/>
              </a:lnSpc>
            </a:pPr>
            <a:r>
              <a:rPr lang="en-US" sz="2666" b="false" i="false" u="none" strike="noStrike" spc="-100">
                <a:solidFill>
                  <a:srgbClr val="000000"/>
                </a:solidFill>
                <a:latin typeface="Murecho Regular"/>
                <a:ea typeface="Murecho Regular"/>
                <a:cs typeface="Murecho Regular"/>
              </a:rPr>
              <a:t>보호자 부양 부담 75.3% 감소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840200" y="10706100"/>
            <a:ext cx="495300" cy="4953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22783800" y="3733800"/>
            <a:ext cx="5981700" cy="63881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-4381500" y="3733800"/>
            <a:ext cx="6057900" cy="6388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3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93800" y="4889500"/>
            <a:ext cx="16484600" cy="2184400"/>
          </a:xfrm>
          <a:prstGeom prst="rect">
            <a:avLst/>
          </a:prstGeom>
          <a:effectLst>
            <a:outerShdw dir="2700000" dist="76198" blurRad="0">
              <a:srgbClr val="000000">
                <a:alpha val="10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1219200" y="990600"/>
            <a:ext cx="2870200" cy="2374900"/>
          </a:xfrm>
          <a:prstGeom prst="rect">
            <a:avLst/>
          </a:prstGeom>
        </p:spPr>
        <p:txBody>
          <a:bodyPr anchor="t" rtlCol="false" lIns="0" tIns="84665" rIns="0" bIns="0"/>
          <a:lstStyle/>
          <a:p>
            <a:pPr algn="l" lvl="0">
              <a:lnSpc>
                <a:spcPct val="107899"/>
              </a:lnSpc>
            </a:pPr>
            <a:r>
              <a:rPr lang="en-US" sz="13333" b="false" i="false" u="none" strike="noStrike" spc="-2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463800" y="-8826500"/>
            <a:ext cx="21602700" cy="327152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12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100" y="1358900"/>
            <a:ext cx="45339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팀 역할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400" y="596900"/>
            <a:ext cx="3175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3" b="false" i="false" u="none" strike="noStrike" cap="all">
                <a:solidFill>
                  <a:srgbClr val="000000"/>
                </a:solidFill>
                <a:latin typeface="Murecho SemiBold"/>
                <a:ea typeface="Murecho SemiBold"/>
                <a:cs typeface="Murecho SemiBold"/>
              </a:rPr>
              <a:t>팀 역할&amp;WBS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759200" y="8877300"/>
            <a:ext cx="2286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29800" y="2387600"/>
            <a:ext cx="4445000" cy="444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86100" y="8229600"/>
            <a:ext cx="4445000" cy="4445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829800" y="8229600"/>
            <a:ext cx="4445000" cy="444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73500" y="8229600"/>
            <a:ext cx="4445000" cy="444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1353800" y="7518400"/>
            <a:ext cx="1397000" cy="38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4838700" y="7759700"/>
            <a:ext cx="901700" cy="38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283200" y="7315200"/>
            <a:ext cx="13970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680200" y="7315200"/>
            <a:ext cx="1397000" cy="38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064500" y="7315200"/>
            <a:ext cx="1397000" cy="38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461500" y="7315200"/>
            <a:ext cx="1397000" cy="38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858500" y="7315200"/>
            <a:ext cx="1397000" cy="38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242800" y="7315200"/>
            <a:ext cx="1397000" cy="38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639800" y="7315200"/>
            <a:ext cx="1397000" cy="38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036800" y="7315200"/>
            <a:ext cx="1397000" cy="38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16200000">
            <a:off x="18351500" y="7759700"/>
            <a:ext cx="901700" cy="38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217900" y="7315200"/>
            <a:ext cx="1397000" cy="38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7500600" y="7315200"/>
            <a:ext cx="1384300" cy="25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0577512" y="3048000"/>
            <a:ext cx="3228975" cy="812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4554" b="0" i="0" u="none" strike="noStrike">
                <a:solidFill>
                  <a:srgbClr val="000000"/>
                </a:solidFill>
                <a:latin typeface="Pretendard Black"/>
                <a:ea typeface="Pretendard Black"/>
                <a:cs typeface="Pretendard Black"/>
              </a:rPr>
              <a:t>박준형(팀장)</a:t>
            </a:r>
            <a:endParaRPr lang="en-US" sz="4554" b="0" i="0" u="none" strike="noStrike">
              <a:solidFill>
                <a:srgbClr val="000000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381500" y="8934450"/>
            <a:ext cx="1828800" cy="812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4554" b="0" i="0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조영진</a:t>
            </a:r>
            <a:endParaRPr lang="en-US" sz="4554" b="0" i="0" u="none" strike="noStrike">
              <a:solidFill>
                <a:srgbClr val="000000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245850" y="8937625"/>
            <a:ext cx="1892300" cy="812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4554" b="0" i="0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이태균</a:t>
            </a:r>
            <a:endParaRPr lang="en-US" sz="4554" b="0" i="0" u="none" strike="noStrike">
              <a:solidFill>
                <a:srgbClr val="000000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8046700" y="8953500"/>
            <a:ext cx="1917700" cy="812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4554" b="0" i="0" u="none" strike="noStrike">
                <a:solidFill>
                  <a:srgbClr val="000000"/>
                </a:solidFill>
                <a:latin typeface="Pretendard ExtraBold"/>
                <a:ea typeface="Pretendard ExtraBold"/>
                <a:cs typeface="Pretendard ExtraBold"/>
              </a:rPr>
              <a:t>한상협</a:t>
            </a:r>
            <a:endParaRPr lang="en-US" sz="4554" b="0" i="0" u="none" strike="noStrike">
              <a:solidFill>
                <a:srgbClr val="000000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name="TextBox 29" id="29"/>
          <p:cNvSpPr txBox="true"/>
          <p:nvPr/>
        </p:nvSpPr>
        <p:spPr>
          <a:xfrm rot="0">
            <a:off x="11226800" y="4533900"/>
            <a:ext cx="18923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PM &amp; AI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439400" y="4711700"/>
            <a:ext cx="228600" cy="2286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670300" y="10452100"/>
            <a:ext cx="36576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Vision AI &amp; RAG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01300" y="10452100"/>
            <a:ext cx="36576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Backend &amp; LLM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0350500" y="10617200"/>
            <a:ext cx="228600" cy="2286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7170400" y="10452100"/>
            <a:ext cx="36576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Frontend &amp; Cloud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7005300" y="10617200"/>
            <a:ext cx="228600" cy="228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3505200" y="1061720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13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3100" y="1358900"/>
            <a:ext cx="74168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WBS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2400" y="596900"/>
            <a:ext cx="3175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3" b="false" i="false" u="none" strike="noStrike" cap="all">
                <a:solidFill>
                  <a:srgbClr val="000000"/>
                </a:solidFill>
                <a:latin typeface="Murecho SemiBold"/>
                <a:ea typeface="Murecho SemiBold"/>
                <a:cs typeface="Murecho SemiBold"/>
              </a:rPr>
              <a:t>팀 역할 &amp; WBS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060700" y="2146300"/>
            <a:ext cx="18275300" cy="10782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3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93800" y="4889500"/>
            <a:ext cx="16484600" cy="2184400"/>
          </a:xfrm>
          <a:prstGeom prst="rect">
            <a:avLst/>
          </a:prstGeom>
          <a:effectLst>
            <a:outerShdw dir="2700000" dist="76198" blurRad="0">
              <a:srgbClr val="000000">
                <a:alpha val="10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1219200" y="990600"/>
            <a:ext cx="2870200" cy="2374900"/>
          </a:xfrm>
          <a:prstGeom prst="rect">
            <a:avLst/>
          </a:prstGeom>
        </p:spPr>
        <p:txBody>
          <a:bodyPr anchor="t" rtlCol="false" lIns="0" tIns="84665" rIns="0" bIns="0"/>
          <a:lstStyle/>
          <a:p>
            <a:pPr algn="l" lvl="0">
              <a:lnSpc>
                <a:spcPct val="107899"/>
              </a:lnSpc>
            </a:pPr>
            <a:r>
              <a:rPr lang="en-US" sz="13333" b="false" i="false" u="none" strike="noStrike" spc="-2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15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2400" y="596900"/>
            <a:ext cx="3175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3" b="false" i="false" u="none" strike="noStrike" cap="all">
                <a:solidFill>
                  <a:srgbClr val="000000"/>
                </a:solidFill>
                <a:latin typeface="Murecho SemiBold"/>
                <a:ea typeface="Murecho SemiBold"/>
                <a:cs typeface="Murecho SemiBold"/>
              </a:rPr>
              <a:t>개발 현황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81700" y="2184400"/>
            <a:ext cx="2743200" cy="6604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ctr" lvl="0">
              <a:lnSpc>
                <a:spcPct val="99600"/>
              </a:lnSpc>
            </a:pPr>
            <a:r>
              <a:rPr lang="en-US" sz="3733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AI &amp; RAG 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0000" y="2997200"/>
            <a:ext cx="1625600" cy="10007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1488400" y="2997200"/>
            <a:ext cx="1625600" cy="10007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14744700" y="3149600"/>
            <a:ext cx="1625600" cy="9715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29000"/>
          </a:blip>
          <a:stretch>
            <a:fillRect/>
          </a:stretch>
        </p:blipFill>
        <p:spPr>
          <a:xfrm rot="0">
            <a:off x="8001000" y="3149600"/>
            <a:ext cx="1625600" cy="9715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880100" y="8166100"/>
            <a:ext cx="1625600" cy="947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5976600" y="7239000"/>
            <a:ext cx="1625600" cy="11315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880100" y="-1587500"/>
            <a:ext cx="1625600" cy="9474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5976600" y="-2501900"/>
            <a:ext cx="1625600" cy="11315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543300" y="3517900"/>
            <a:ext cx="3441700" cy="901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2387600" y="2844800"/>
            <a:ext cx="5778500" cy="224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393" b="false" i="false" u="none" strike="noStrike">
                <a:solidFill>
                  <a:srgbClr val="FAFA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76700" y="3670300"/>
            <a:ext cx="2387600" cy="5842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ctr" lvl="0">
              <a:lnSpc>
                <a:spcPct val="99600"/>
              </a:lnSpc>
            </a:pPr>
            <a:r>
              <a:rPr lang="en-US" sz="3250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Client  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902200" y="5181600"/>
            <a:ext cx="749300" cy="12319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4051300" y="6540500"/>
            <a:ext cx="24130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8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카메라 촬영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449800" y="3517900"/>
            <a:ext cx="3441700" cy="901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387600" y="2844800"/>
            <a:ext cx="33591500" cy="224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393" b="false" i="false" u="none" strike="noStrike">
                <a:solidFill>
                  <a:srgbClr val="FAFA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983200" y="3670300"/>
            <a:ext cx="2387600" cy="5842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ctr" lvl="0">
              <a:lnSpc>
                <a:spcPct val="99600"/>
              </a:lnSpc>
            </a:pPr>
            <a:r>
              <a:rPr lang="en-US" sz="3250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API &amp; DB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8440400" y="10185400"/>
            <a:ext cx="1536700" cy="1714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8821400" y="5334000"/>
            <a:ext cx="711200" cy="711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8478500" y="6045200"/>
            <a:ext cx="1511300" cy="546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73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FastAPI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970500" y="6591300"/>
            <a:ext cx="24130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8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API 서버 수신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008600" y="11722100"/>
            <a:ext cx="24130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8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분석 결과 저장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604500" y="3517900"/>
            <a:ext cx="3441700" cy="9017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228600" y="3848100"/>
            <a:ext cx="241935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393" b="false" i="false" u="none" strike="noStrike">
                <a:solidFill>
                  <a:srgbClr val="FAFA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137900" y="4826000"/>
            <a:ext cx="2146300" cy="2146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684000" y="10426700"/>
            <a:ext cx="1295400" cy="12319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0591800" y="6731000"/>
            <a:ext cx="32512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8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3D 관절 좌표 추출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06100" y="11722100"/>
            <a:ext cx="32512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89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RAG 대조 및 결과 판정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87100" y="3670300"/>
            <a:ext cx="2387600" cy="584200"/>
          </a:xfrm>
          <a:prstGeom prst="rect">
            <a:avLst/>
          </a:prstGeom>
        </p:spPr>
        <p:txBody>
          <a:bodyPr anchor="ctr" rtlCol="false" lIns="0" tIns="47412" rIns="0" bIns="47412"/>
          <a:lstStyle/>
          <a:p>
            <a:pPr algn="ctr" lvl="0">
              <a:lnSpc>
                <a:spcPct val="99600"/>
              </a:lnSpc>
            </a:pPr>
            <a:r>
              <a:rPr lang="en-US" sz="3250" b="false" i="false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AI &amp; RAG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400800" y="5765800"/>
            <a:ext cx="4775200" cy="2667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5791200" y="5524500"/>
            <a:ext cx="3543300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sz="2321" b="0" i="0" u="none" strike="noStrike">
                <a:solidFill>
                  <a:srgbClr val="336391"/>
                </a:solidFill>
                <a:latin typeface="Swagger TTF"/>
                <a:ea typeface="Swagger TTF"/>
                <a:cs typeface="Swagger TTF"/>
              </a:rPr>
              <a:t>1. 온디바이스 AI 좌표 추출</a:t>
            </a:r>
            <a:endParaRPr lang="en-US" sz="2321" b="0" i="0" u="none" strike="noStrike">
              <a:solidFill>
                <a:srgbClr val="336391"/>
              </a:solidFill>
              <a:latin typeface="Swagger TTF"/>
              <a:ea typeface="Swagger TTF"/>
              <a:cs typeface="Swagger TTF"/>
            </a:endParaRP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500100" y="5702300"/>
            <a:ext cx="4775200" cy="2667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2738100" y="5499100"/>
            <a:ext cx="3543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21" b="false" i="false" u="none" strike="noStrike">
                <a:solidFill>
                  <a:srgbClr val="336391"/>
                </a:solidFill>
                <a:latin typeface="Swagger TTF"/>
                <a:ea typeface="Swagger TTF"/>
                <a:cs typeface="Swagger TTF"/>
              </a:rPr>
              <a:t>2. 좌표 데이터(JSON) 전송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17373600" y="8445500"/>
            <a:ext cx="3111500" cy="2667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15709900" y="7385048"/>
            <a:ext cx="3543300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sz="2321" b="0" i="0" u="none" strike="noStrike">
                <a:solidFill>
                  <a:srgbClr val="336391"/>
                </a:solidFill>
                <a:latin typeface="Swagger TTF"/>
                <a:ea typeface="Swagger TTF"/>
                <a:cs typeface="Swagger TTF"/>
              </a:rPr>
              <a:t>3. 좌표(JSON) 저장</a:t>
            </a:r>
            <a:endParaRPr lang="en-US" sz="2321" b="0" i="0" u="none" strike="noStrike">
              <a:solidFill>
                <a:srgbClr val="336391"/>
              </a:solidFill>
              <a:latin typeface="Swagger TTF"/>
              <a:ea typeface="Swagger TTF"/>
              <a:cs typeface="Swagger TTF"/>
            </a:endParaRP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10800000">
            <a:off x="13703300" y="10782300"/>
            <a:ext cx="4775200" cy="2667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5430500" y="10553700"/>
            <a:ext cx="3543300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sz="2321" b="0" i="0" u="none" strike="noStrike">
                <a:solidFill>
                  <a:srgbClr val="336391"/>
                </a:solidFill>
                <a:latin typeface="Swagger TTF"/>
                <a:ea typeface="Swagger TTF"/>
                <a:cs typeface="Swagger TTF"/>
              </a:rPr>
              <a:t>4. 관절 움직임 판정 요청</a:t>
            </a:r>
            <a:endParaRPr lang="en-US" sz="2321" b="0" i="0" u="none" strike="noStrike">
              <a:solidFill>
                <a:srgbClr val="336391"/>
              </a:solidFill>
              <a:latin typeface="Swagger TTF"/>
              <a:ea typeface="Swagger TTF"/>
              <a:cs typeface="Swagger TTF"/>
            </a:endParaRP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3703300" y="11252200"/>
            <a:ext cx="4775200" cy="2667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13385800" y="11417300"/>
            <a:ext cx="3543300" cy="825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sz="2321" b="0" i="0" u="none" strike="noStrike">
                <a:solidFill>
                  <a:srgbClr val="336391"/>
                </a:solidFill>
                <a:latin typeface="Swagger TTF"/>
                <a:ea typeface="Swagger TTF"/>
                <a:cs typeface="Swagger TTF"/>
              </a:rPr>
              <a:t>5. Normal/Warning/Critical</a:t>
            </a:r>
            <a:endParaRPr lang="en-US" sz="2321" b="0" i="0" u="none" strike="noStrike">
              <a:solidFill>
                <a:srgbClr val="336391"/>
              </a:solidFill>
              <a:latin typeface="Swagger TTF"/>
              <a:ea typeface="Swagger TTF"/>
              <a:cs typeface="Swagger TTF"/>
            </a:endParaRPr>
          </a:p>
          <a:p>
            <a:pPr lvl="0" algn="ctr">
              <a:lnSpc>
                <a:spcPct val="116199"/>
              </a:lnSpc>
              <a:defRPr/>
            </a:pPr>
            <a:r>
              <a:rPr lang="en-US" sz="2321" b="0" i="0" u="none" strike="noStrike">
                <a:solidFill>
                  <a:srgbClr val="336391"/>
                </a:solidFill>
                <a:latin typeface="Swagger TTF"/>
                <a:ea typeface="Swagger TTF"/>
                <a:cs typeface="Swagger TTF"/>
              </a:rPr>
              <a:t>결과(json) 전달</a:t>
            </a:r>
            <a:endParaRPr lang="en-US" sz="2321" b="0" i="0" u="none" strike="noStrike">
              <a:solidFill>
                <a:srgbClr val="336391"/>
              </a:solidFill>
              <a:latin typeface="Swagger TTF"/>
              <a:ea typeface="Swagger TTF"/>
              <a:cs typeface="Swagger TTF"/>
            </a:endParaRPr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16200000">
            <a:off x="17970500" y="8445500"/>
            <a:ext cx="3111500" cy="266700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18935700" y="9582150"/>
            <a:ext cx="3543300" cy="419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sz="2321" b="0" i="0" u="none" strike="noStrike">
                <a:solidFill>
                  <a:srgbClr val="336391"/>
                </a:solidFill>
                <a:latin typeface="Swagger TTF"/>
                <a:ea typeface="Swagger TTF"/>
                <a:cs typeface="Swagger TTF"/>
              </a:rPr>
              <a:t>6. 판정 결과 전달</a:t>
            </a:r>
            <a:endParaRPr lang="en-US" sz="2321" b="0" i="0" u="none" strike="noStrike">
              <a:solidFill>
                <a:srgbClr val="336391"/>
              </a:solidFill>
              <a:latin typeface="Swagger TTF"/>
              <a:ea typeface="Swagger TTF"/>
              <a:cs typeface="Swagger TTF"/>
            </a:endParaRPr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5400000">
            <a:off x="15671800" y="4064000"/>
            <a:ext cx="368300" cy="47117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3335000" y="6388100"/>
            <a:ext cx="368300" cy="31369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5400000">
            <a:off x="11010900" y="7137400"/>
            <a:ext cx="368300" cy="47371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5400000">
            <a:off x="6883400" y="7696200"/>
            <a:ext cx="368300" cy="36195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16200000">
            <a:off x="4102100" y="8204200"/>
            <a:ext cx="2324100" cy="2667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8229600" y="9093200"/>
            <a:ext cx="3543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21" b="false" i="false" u="none" strike="noStrike">
                <a:solidFill>
                  <a:srgbClr val="336391"/>
                </a:solidFill>
                <a:latin typeface="Swagger TTF"/>
                <a:ea typeface="Swagger TTF"/>
                <a:cs typeface="Swagger TTF"/>
              </a:rPr>
              <a:t>7. 최종 결과 반환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73100" y="1358900"/>
            <a:ext cx="74168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SW 아키텍쳐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16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2400" y="596900"/>
            <a:ext cx="3175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3" b="false" i="false" u="none" strike="noStrike" cap="all">
                <a:solidFill>
                  <a:srgbClr val="000000"/>
                </a:solidFill>
                <a:latin typeface="Murecho SemiBold"/>
                <a:ea typeface="Murecho SemiBold"/>
                <a:cs typeface="Murecho SemiBold"/>
              </a:rPr>
              <a:t>개발 현황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100" y="1358900"/>
            <a:ext cx="74168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MVP 영상</a:t>
            </a:r>
          </a:p>
        </p:txBody>
      </p:sp>
      <p:pic>
        <p:nvPicPr>
          <p:cNvPr name="Picture 6" id="6">
            <a:hlinkClick r:id=""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>
                  <p14:trim st="0"/>
                </p14:media>
              </p:ext>
            </p:extLst>
          </p:nvPr>
        </p:nvPicPr>
        <p:blipFill>
          <a:blip r:embed="rId2"/>
          <a:stretch>
            <a:fillRect/>
          </a:stretch>
        </p:blipFill>
        <p:spPr>
          <a:xfrm rot="0">
            <a:off x="9067800" y="101600"/>
            <a:ext cx="6235700" cy="13525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8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3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93800" y="4889500"/>
            <a:ext cx="16484600" cy="2184400"/>
          </a:xfrm>
          <a:prstGeom prst="rect">
            <a:avLst/>
          </a:prstGeom>
          <a:effectLst>
            <a:outerShdw dir="2700000" dist="76198" blurRad="0">
              <a:srgbClr val="000000">
                <a:alpha val="10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1219200" y="990600"/>
            <a:ext cx="2870200" cy="2374900"/>
          </a:xfrm>
          <a:prstGeom prst="rect">
            <a:avLst/>
          </a:prstGeom>
        </p:spPr>
        <p:txBody>
          <a:bodyPr anchor="t" rtlCol="false" lIns="0" tIns="84665" rIns="0" bIns="0"/>
          <a:lstStyle/>
          <a:p>
            <a:pPr algn="l" lvl="0">
              <a:lnSpc>
                <a:spcPct val="107899"/>
              </a:lnSpc>
            </a:pPr>
            <a:r>
              <a:rPr lang="en-US" sz="13333" b="false" i="false" u="none" strike="noStrike" spc="-2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0040E0"/>
                </a:solidFill>
                <a:latin typeface="Murecho Regular"/>
                <a:ea typeface="Murecho Regular"/>
                <a:cs typeface="Murecho Regular"/>
              </a:rPr>
              <a:t>18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2400" y="596900"/>
            <a:ext cx="31750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63" b="false" i="false" u="none" strike="noStrike" cap="all">
                <a:solidFill>
                  <a:srgbClr val="000000"/>
                </a:solidFill>
                <a:latin typeface="Murecho SemiBold"/>
                <a:ea typeface="Murecho SemiBold"/>
                <a:cs typeface="Murecho SemiBold"/>
              </a:rPr>
              <a:t>향후 계획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100" y="647700"/>
            <a:ext cx="8382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3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100" y="1358900"/>
            <a:ext cx="7416800" cy="1181100"/>
          </a:xfrm>
          <a:prstGeom prst="rect">
            <a:avLst/>
          </a:prstGeom>
        </p:spPr>
        <p:txBody>
          <a:bodyPr anchor="ctr" rtlCol="false" lIns="0" tIns="84665" rIns="0" bIns="84665"/>
          <a:lstStyle/>
          <a:p>
            <a:pPr algn="l" lvl="0">
              <a:lnSpc>
                <a:spcPct val="99600"/>
              </a:lnSpc>
            </a:pPr>
            <a:r>
              <a:rPr lang="en-US" sz="6666" b="false" i="false" u="none" strike="noStrike" spc="-100">
                <a:solidFill>
                  <a:srgbClr val="0040E0"/>
                </a:solidFill>
                <a:latin typeface="Pretendard Bold"/>
                <a:ea typeface="Pretendard Bold"/>
                <a:cs typeface="Pretendard Bold"/>
              </a:rPr>
              <a:t>2차 개발 항목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103100" y="2082800"/>
            <a:ext cx="5384800" cy="5384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941800" y="2082800"/>
            <a:ext cx="5384800" cy="538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103100" y="6934200"/>
            <a:ext cx="5384800" cy="538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941800" y="6934200"/>
            <a:ext cx="5384800" cy="5384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22400" y="6781800"/>
            <a:ext cx="97028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2400" y="8343900"/>
            <a:ext cx="97028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2400" y="9893300"/>
            <a:ext cx="97028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2400" y="5232400"/>
            <a:ext cx="97282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2400" y="11442700"/>
            <a:ext cx="97028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590800" y="5537200"/>
            <a:ext cx="9004300" cy="965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1178"/>
              </a:lnSpc>
              <a:defRPr/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[AI 연동] RAG &amp; LLM 파이프라인 구축</a:t>
            </a:r>
            <a:endParaRPr lang="en-US" sz="2666" b="0" i="0" u="none" strike="noStrike" spc="-10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l">
              <a:lnSpc>
                <a:spcPct val="121178"/>
              </a:lnSpc>
              <a:defRPr/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관절 판정 결과(Chroma DB) 및 측정 데이터를 GPT API와 연동</a:t>
            </a:r>
            <a:endParaRPr lang="en-US" sz="2666" b="0" i="0" u="none" strike="noStrike" spc="-10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name="TextBox 16" id="16"/>
          <p:cNvSpPr txBox="true"/>
          <p:nvPr/>
        </p:nvSpPr>
        <p:spPr>
          <a:xfrm rot="0">
            <a:off x="1371600" y="5676900"/>
            <a:ext cx="12954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1178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Geologica Roman Light"/>
                <a:ea typeface="Geologica Roman Light"/>
                <a:cs typeface="Geologica Roman Light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90800" y="7086600"/>
            <a:ext cx="7073900" cy="965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1178"/>
              </a:lnSpc>
              <a:defRPr/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[맞춤 안무] 취약 부위 타겟팅 안무 생성</a:t>
            </a:r>
            <a:endParaRPr lang="en-US" sz="2666" b="0" i="0" u="none" strike="noStrike" spc="-10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l">
              <a:lnSpc>
                <a:spcPct val="121178"/>
              </a:lnSpc>
              <a:defRPr/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분당서울대병원 및 보건복지부 '어운완'  자료 기반</a:t>
            </a:r>
            <a:endParaRPr lang="en-US" sz="2666" b="0" i="0" u="none" strike="noStrike" spc="-10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name="TextBox 18" id="18"/>
          <p:cNvSpPr txBox="true"/>
          <p:nvPr/>
        </p:nvSpPr>
        <p:spPr>
          <a:xfrm rot="0">
            <a:off x="1371600" y="7226300"/>
            <a:ext cx="12954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1178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Geologica Roman Light"/>
                <a:ea typeface="Geologica Roman Light"/>
                <a:cs typeface="Geologica Roman Light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90800" y="8648700"/>
            <a:ext cx="8153400" cy="965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1178"/>
              </a:lnSpc>
              <a:defRPr/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[동적 조절] 피드백 기반 난이도 자동 조절</a:t>
            </a:r>
            <a:endParaRPr lang="en-US" sz="2666" b="0" i="0" u="none" strike="noStrike" spc="-10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l">
              <a:lnSpc>
                <a:spcPct val="121178"/>
              </a:lnSpc>
              <a:defRPr/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피드백(쉬움/보통/어려움) 수집 및 익일 안무 강도 반영</a:t>
            </a:r>
            <a:endParaRPr lang="en-US" sz="2666" b="0" i="0" u="none" strike="noStrike" spc="-10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name="TextBox 20" id="20"/>
          <p:cNvSpPr txBox="true"/>
          <p:nvPr/>
        </p:nvSpPr>
        <p:spPr>
          <a:xfrm rot="0">
            <a:off x="1371600" y="8775700"/>
            <a:ext cx="12954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1178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Geologica Roman Light"/>
                <a:ea typeface="Geologica Roman Light"/>
                <a:cs typeface="Geologica Roman Light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90800" y="10198100"/>
            <a:ext cx="8458200" cy="965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21178"/>
              </a:lnSpc>
              <a:defRPr/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[플랫폼 확장] 스마트폰-스마트 TV 연동</a:t>
            </a:r>
            <a:endParaRPr lang="en-US" sz="2666" b="0" i="0" u="none" strike="noStrike" spc="-10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l">
              <a:lnSpc>
                <a:spcPct val="121178"/>
              </a:lnSpc>
              <a:defRPr/>
            </a:pPr>
            <a:r>
              <a:rPr lang="en-US" sz="2666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스마트폰 측정 및 스마트 TV 대화면 시청 환경 분리 구축</a:t>
            </a:r>
            <a:endParaRPr lang="en-US" sz="2666" b="0" i="0" u="none" strike="noStrike" spc="-10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name="TextBox 22" id="22"/>
          <p:cNvSpPr txBox="true"/>
          <p:nvPr/>
        </p:nvSpPr>
        <p:spPr>
          <a:xfrm rot="0">
            <a:off x="1371600" y="10337800"/>
            <a:ext cx="12954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1178"/>
              </a:lnSpc>
            </a:pPr>
            <a:r>
              <a:rPr lang="en-US" sz="3199" b="false" i="false" u="none" strike="noStrike" spc="-100">
                <a:solidFill>
                  <a:srgbClr val="000000"/>
                </a:solidFill>
                <a:latin typeface="Geologica Roman Light"/>
                <a:ea typeface="Geologica Roman Light"/>
                <a:cs typeface="Geologica Roman Light"/>
              </a:rPr>
              <a:t>04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14300" y="3657600"/>
            <a:ext cx="1981200" cy="18796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795500" y="3657600"/>
            <a:ext cx="1879600" cy="1879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487900" y="3594100"/>
            <a:ext cx="1892300" cy="2387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634200" y="3403600"/>
            <a:ext cx="2260600" cy="28321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3779500" y="7797800"/>
            <a:ext cx="23114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Hard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71500" y="9080500"/>
            <a:ext cx="33147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Normal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79500" y="10401300"/>
            <a:ext cx="22860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7073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Easy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979400" y="8940800"/>
            <a:ext cx="3619500" cy="228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979400" y="10401300"/>
            <a:ext cx="3619500" cy="228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729200" y="8534400"/>
            <a:ext cx="1130300" cy="22098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9113500" y="8750300"/>
            <a:ext cx="2997200" cy="1917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0040E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73200" y="8255000"/>
            <a:ext cx="3302000" cy="3302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3200" y="11023600"/>
            <a:ext cx="3302000" cy="330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73200" y="5473700"/>
            <a:ext cx="3302000" cy="330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72100" y="5473700"/>
            <a:ext cx="3302000" cy="3302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72100" y="8255000"/>
            <a:ext cx="3302000" cy="330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72100" y="2705100"/>
            <a:ext cx="3302000" cy="3302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874000" y="4914900"/>
            <a:ext cx="11874500" cy="3898900"/>
          </a:xfrm>
          <a:prstGeom prst="rect">
            <a:avLst/>
          </a:prstGeom>
        </p:spPr>
        <p:txBody>
          <a:bodyPr anchor="ctr" rtlCol="false" lIns="0" tIns="267544" rIns="0" bIns="267544"/>
          <a:lstStyle/>
          <a:p>
            <a:pPr algn="r" lvl="0">
              <a:lnSpc>
                <a:spcPct val="99600"/>
              </a:lnSpc>
            </a:pPr>
            <a:r>
              <a:rPr lang="en-US" sz="21066" b="false" i="false" u="none" strike="noStrike" spc="-300">
                <a:solidFill>
                  <a:srgbClr val="FFFFFF"/>
                </a:solidFill>
                <a:latin typeface="Murecho Bold"/>
                <a:ea typeface="Murecho Bold"/>
                <a:cs typeface="Murecho Bold"/>
              </a:rPr>
              <a:t>Q&amp;A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929600" y="12725400"/>
            <a:ext cx="2781300" cy="406400"/>
          </a:xfrm>
          <a:prstGeom prst="rect">
            <a:avLst/>
          </a:prstGeom>
        </p:spPr>
        <p:txBody>
          <a:bodyPr anchor="t" rtlCol="false" lIns="0" tIns="27093" rIns="0" bIns="0"/>
          <a:lstStyle/>
          <a:p>
            <a:pPr algn="r" lvl="0">
              <a:lnSpc>
                <a:spcPct val="99600"/>
              </a:lnSpc>
            </a:pPr>
            <a:r>
              <a:rPr lang="en-US" sz="2133" b="false" i="false" u="none" strike="noStrike" spc="-100">
                <a:solidFill>
                  <a:srgbClr val="FFFFFF"/>
                </a:solidFill>
                <a:latin typeface="Murecho Regular"/>
                <a:ea typeface="Murecho Regular"/>
                <a:cs typeface="Murecho Regular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18804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479</ep:Words>
  <ep:PresentationFormat>On-screen Show (4:3)</ep:PresentationFormat>
  <ep:Paragraphs>203</ep:Paragraphs>
  <ep:Slides>21</ep:Slides>
  <ep:Notes>0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ep:HeadingPairs>
  <ep:TitlesOfParts>
    <vt:vector size="2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박준형</cp:lastModifiedBy>
  <dcterms:modified xsi:type="dcterms:W3CDTF">2026-07-03T14:31:10.135</dcterms:modified>
  <cp:revision>36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
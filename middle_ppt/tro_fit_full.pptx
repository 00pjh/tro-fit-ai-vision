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A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2340000"/>
            <a:ext cx="10609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Pretendard"/>
              </a:rPr>
              <a:t>Tro-Fit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3240000"/>
            <a:ext cx="10609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882"/>
                </a:solidFill>
                <a:latin typeface="Pretendard"/>
              </a:rPr>
              <a:t>트로트 음악 기반 노인 관절 건강 예방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5778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실마리 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6066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Pretendard"/>
              </a:rPr>
              <a:t>2026. 07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02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774000"/>
            <a:ext cx="10609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C"/>
                </a:solidFill>
                <a:latin typeface="Pretendard"/>
              </a:rPr>
              <a:t>발표 순서 및 평가 항목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20000"/>
            <a:ext cx="10609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3E3E"/>
                </a:solidFill>
                <a:latin typeface="Pretendard"/>
              </a:rPr>
              <a:t>스토리텔링 흐름 중심의 지표 대응 로드맵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124000"/>
            <a:ext cx="10609200" cy="68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5200" y="2301800"/>
            <a:ext cx="4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66FF"/>
                </a:solidFill>
                <a:latin typeface="Pretendar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8000" y="2251000"/>
            <a:ext cx="8809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Pretendard"/>
              </a:rPr>
              <a:t>01. 문제 &amp; 솔루션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8000" y="2505000"/>
            <a:ext cx="880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E3E3E"/>
                </a:solidFill>
                <a:latin typeface="Pretendard"/>
              </a:rPr>
              <a:t>어르신 관절 건강 위기와 디지털 소외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0001" y="2352600"/>
            <a:ext cx="1007999" cy="2286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0001" y="2352600"/>
            <a:ext cx="10079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166FF"/>
                </a:solidFill>
                <a:latin typeface="Pretendard"/>
              </a:rPr>
              <a:t>기획 20점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0" y="2880000"/>
            <a:ext cx="10609200" cy="68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5200" y="3057800"/>
            <a:ext cx="4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66FF"/>
                </a:solidFill>
                <a:latin typeface="Pretendar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8000" y="3007000"/>
            <a:ext cx="8809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Pretendard"/>
              </a:rPr>
              <a:t>02. 시장 &amp; 사업화 전략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8000" y="3261000"/>
            <a:ext cx="880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E3E3E"/>
                </a:solidFill>
                <a:latin typeface="Pretendard"/>
              </a:rPr>
              <a:t>초고령사회 B2G 모델과 일본 시장 확장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0001" y="3108600"/>
            <a:ext cx="1007999" cy="2286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0001" y="3108600"/>
            <a:ext cx="10079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166FF"/>
                </a:solidFill>
                <a:latin typeface="Pretendard"/>
              </a:rPr>
              <a:t>파급성 20점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3636000"/>
            <a:ext cx="10609200" cy="68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200" y="3813800"/>
            <a:ext cx="4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66FF"/>
                </a:solidFill>
                <a:latin typeface="Pretendar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8000" y="3763000"/>
            <a:ext cx="8809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Pretendard"/>
              </a:rPr>
              <a:t>03. 팀 협업 및 WBS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8000" y="4017000"/>
            <a:ext cx="880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E3E3E"/>
                </a:solidFill>
                <a:latin typeface="Pretendard"/>
              </a:rPr>
              <a:t>역할 세분화 및 개발 타임라인 관리 실적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0001" y="3864600"/>
            <a:ext cx="1007999" cy="2286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0001" y="3864600"/>
            <a:ext cx="10079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166FF"/>
                </a:solidFill>
                <a:latin typeface="Pretendard"/>
              </a:rPr>
              <a:t>팀워크 10점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000" y="4392000"/>
            <a:ext cx="10609200" cy="68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200" y="4569800"/>
            <a:ext cx="4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66FF"/>
                </a:solidFill>
                <a:latin typeface="Pretendar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8000" y="4519000"/>
            <a:ext cx="8809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Pretendard"/>
              </a:rPr>
              <a:t>04. 기술적 차별화 &amp;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8000" y="4773000"/>
            <a:ext cx="880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E3E3E"/>
                </a:solidFill>
                <a:latin typeface="Pretendard"/>
              </a:rPr>
              <a:t>3D ROM 분석 엔진 및 RAG 안무 처방 알고리즘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90001" y="4620600"/>
            <a:ext cx="1007999" cy="2286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0001" y="4620600"/>
            <a:ext cx="10079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166FF"/>
                </a:solidFill>
                <a:latin typeface="Pretendard"/>
              </a:rPr>
              <a:t>개발 20점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2000" y="5148000"/>
            <a:ext cx="10609200" cy="68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5200" y="5325800"/>
            <a:ext cx="43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66FF"/>
                </a:solidFill>
                <a:latin typeface="Pretendard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68000" y="5275000"/>
            <a:ext cx="8809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Pretendard"/>
              </a:rPr>
              <a:t>05. 시스템 구현 실증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68000" y="5529000"/>
            <a:ext cx="880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E3E3E"/>
                </a:solidFill>
                <a:latin typeface="Pretendard"/>
              </a:rPr>
              <a:t>모바일-TV 연동 완성도 및 실제 시연 영상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90001" y="5376600"/>
            <a:ext cx="1007999" cy="2286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0001" y="5376600"/>
            <a:ext cx="10079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166FF"/>
                </a:solidFill>
                <a:latin typeface="Pretendard"/>
              </a:rPr>
              <a:t>구현 20점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03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PROBLEM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464100"/>
            <a:ext cx="848736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8A"/>
                </a:solidFill>
                <a:latin typeface="Pretendard"/>
              </a:rPr>
              <a:t>출처: 2024 건강보험통계연보 756p  |  2025 통계청  |  보건복지부 보도자료 2026.03.26.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774000"/>
            <a:ext cx="6577704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</a:pPr>
            <a:r>
              <a:rPr sz="3200" b="1">
                <a:solidFill>
                  <a:srgbClr val="1C1C1C"/>
                </a:solidFill>
                <a:latin typeface="Pretendard"/>
              </a:rPr>
              <a:t>어르신의 관절은 지금 무너지고 있습니다.</a:t>
            </a:r>
          </a:p>
          <a:p>
            <a:pPr algn="l">
              <a:lnSpc>
                <a:spcPts val="3000"/>
              </a:lnSpc>
            </a:pPr>
            <a:r>
              <a:rPr sz="2200" b="1">
                <a:solidFill>
                  <a:srgbClr val="0166FF"/>
                </a:solidFill>
                <a:latin typeface="Pretendard"/>
              </a:rPr>
              <a:t>관절 건강이 보장되어야 평온한 일상이 가능합니다.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620000"/>
            <a:ext cx="636552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250" b="0">
                <a:solidFill>
                  <a:srgbClr val="3E3E3E"/>
                </a:solidFill>
                <a:latin typeface="Pretendard"/>
              </a:rPr>
              <a:t>계단 오르내리기, 의자 기립, 간단한 위생 관리 등 노년층 독립 생활의 근본은 전신 관절 가동성입니다.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1980000"/>
            <a:ext cx="432000" cy="381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124000"/>
            <a:ext cx="5728968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 b="0">
                <a:solidFill>
                  <a:srgbClr val="3E3E3E"/>
                </a:solidFill>
                <a:latin typeface="Pretendard"/>
              </a:rPr>
              <a:t>노년기 근골격계 질환의 장기 방치는 균형 감각의 상실과 낙상이라는 2차 위험을 초래합니다.
Tro-Fit은 단순한 '낙상 모니터링'에 그치지 않고,
어르신 스스로 가정에서 재미있게 신체 활동을 이어가며
전신 관절(무릎·어깨·팔꿈치)의 가동성(ROM)을 선제적으로 예방·보존하는 플랫폼을 지향합니다.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744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166FF"/>
                </a:solidFill>
                <a:latin typeface="Pretendard"/>
              </a:rPr>
              <a:t>→  관절 질환 다빈도 통계 기반의 선제적 사전 예방 케어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41200" y="2124000"/>
            <a:ext cx="3060000" cy="12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9800" y="2301800"/>
            <a:ext cx="26028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82C0C"/>
                </a:solidFill>
                <a:latin typeface="Pretendard"/>
              </a:rPr>
              <a:t>무릎관절증 4위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9800" y="2784400"/>
            <a:ext cx="260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Pretendard"/>
              </a:rPr>
              <a:t>65세 이상 노인 다빈도 상병 순위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1200" y="3510000"/>
            <a:ext cx="3060000" cy="12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9800" y="3687800"/>
            <a:ext cx="26028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C"/>
                </a:solidFill>
                <a:latin typeface="Pretendard"/>
              </a:rPr>
              <a:t>551만원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9800" y="4170400"/>
            <a:ext cx="260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Pretendard"/>
              </a:rPr>
              <a:t>노인 1인당 연평균 의료 진료비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41200" y="4896000"/>
            <a:ext cx="3060000" cy="124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9800" y="5073800"/>
            <a:ext cx="26028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882"/>
                </a:solidFill>
                <a:latin typeface="Pretendard"/>
              </a:rPr>
              <a:t>20.3%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9800" y="5556400"/>
            <a:ext cx="260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Pretendard"/>
              </a:rPr>
              <a:t>대한민국 초고령사회 진입 비율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04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PROBLEM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464100"/>
            <a:ext cx="848736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8A"/>
                </a:solidFill>
                <a:latin typeface="Pretendard"/>
              </a:rPr>
              <a:t>출처: 2024 건강보험통계연보  |  (NIA) 2024 디지털정보격차 실태조사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774000"/>
            <a:ext cx="10609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C"/>
                </a:solidFill>
                <a:latin typeface="Pretendard"/>
              </a:rPr>
              <a:t>기존 디지털 시니어 헬스케어의 3대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620000"/>
            <a:ext cx="10609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3E3E"/>
                </a:solidFill>
                <a:latin typeface="Pretendard"/>
              </a:rPr>
              <a:t>근골격 위기 극복, 디지털 경험 부족 극복, 기기 과부하 제어를 동시에 달성해야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124000"/>
            <a:ext cx="3440400" cy="33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5200" y="2327200"/>
            <a:ext cx="1152000" cy="228600"/>
          </a:xfrm>
          <a:prstGeom prst="rect">
            <a:avLst/>
          </a:prstGeom>
          <a:solidFill>
            <a:srgbClr val="E6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5200" y="2327200"/>
            <a:ext cx="115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E3E3E"/>
                </a:solidFill>
                <a:latin typeface="Pretendard"/>
              </a:rPr>
              <a:t>근골격 관리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200" y="2632000"/>
            <a:ext cx="3034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Pretendard"/>
              </a:rPr>
              <a:t>물리적 치료 편중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5200" y="3013000"/>
            <a:ext cx="3034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82C0C"/>
                </a:solidFill>
                <a:latin typeface="Pretendard"/>
              </a:rPr>
              <a:t>4위 / 9위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200" y="3470200"/>
            <a:ext cx="303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Pretendard"/>
              </a:rPr>
              <a:t>무릎관절증 / 척추병증 순위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5200" y="3724200"/>
            <a:ext cx="303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200" y="3825800"/>
            <a:ext cx="303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∙ 병원이나 요양 기관 중심의 사후적 치료 편중
∙ 가정 내에서 지속적으로 자발적 신체 기능을 유지시킬 수 있는 흥미 기전 결여
∙ 어깨, 팔꿈치 등 전신 상하지 관절을 균형있게 잡아주지 못함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6400" y="2124000"/>
            <a:ext cx="3440400" cy="33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9600" y="2327200"/>
            <a:ext cx="1152000" cy="228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9600" y="2327200"/>
            <a:ext cx="115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E3E3E"/>
                </a:solidFill>
                <a:latin typeface="Pretendard"/>
              </a:rPr>
              <a:t>시니어 격차 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9600" y="2632000"/>
            <a:ext cx="3034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Pretendard"/>
              </a:rPr>
              <a:t>디지털 진입 장벽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9600" y="3013000"/>
            <a:ext cx="3034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D00"/>
                </a:solidFill>
                <a:latin typeface="Pretendard"/>
              </a:rPr>
              <a:t>27.8%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9600" y="3470200"/>
            <a:ext cx="303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Pretendard"/>
              </a:rPr>
              <a:t>시니어 계층 AI 경험 비율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9600" y="3724200"/>
            <a:ext cx="303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9600" y="3825800"/>
            <a:ext cx="303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∙ 고령층 AI 경험률 27.8%
  (일반 평균 51%에 비해 현저히 낮음)
∙ 매번 모바일 카메라 구도를 맞춰야 하는 신체적/인지적 번거로움
∙ 복잡한 조작에 따른 높은 초기 이탈률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60800" y="2124000"/>
            <a:ext cx="3440400" cy="33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64000" y="2327200"/>
            <a:ext cx="1152000" cy="2286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4000" y="2327200"/>
            <a:ext cx="115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E3E3E"/>
                </a:solidFill>
                <a:latin typeface="Pretendard"/>
              </a:rPr>
              <a:t>기술적 한계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4000" y="2632000"/>
            <a:ext cx="3034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Pretendard"/>
              </a:rPr>
              <a:t>실시간 연산 과부하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4000" y="3013000"/>
            <a:ext cx="3034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66FF"/>
                </a:solidFill>
                <a:latin typeface="Pretendard"/>
              </a:rPr>
              <a:t>High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4000" y="3470200"/>
            <a:ext cx="303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F5F"/>
                </a:solidFill>
                <a:latin typeface="Pretendard"/>
              </a:rPr>
              <a:t>보급형 스마트폰 연산 한계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4000" y="3724200"/>
            <a:ext cx="303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4000" y="3825800"/>
            <a:ext cx="303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∙ 에버엑스 등 기존 솔루션은 실시간 영상 처리 기반
∙ 보급형 기기에서 지속 가동 시 발열 및 배터리 방전 발생
∙ 매일 측정에 따른 피로 누적으로 지속률 0% 수렴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2000" y="5633999"/>
            <a:ext cx="10609200" cy="378000"/>
          </a:xfrm>
          <a:prstGeom prst="rect">
            <a:avLst/>
          </a:prstGeom>
          <a:solidFill>
            <a:srgbClr val="0A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5200" y="5735599"/>
            <a:ext cx="1020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Pretendard"/>
              </a:rPr>
              <a:t>Tro-Fit은 진단-운동 비동기 분리와 시니어 맞춤 엔터테인먼트로 이 3대 한계를 극복합니다.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05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774000"/>
            <a:ext cx="10609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C"/>
                </a:solidFill>
                <a:latin typeface="Pretendard"/>
              </a:rPr>
              <a:t>Tro-Fit 비동기 시스템 아키텍처 및 데이터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20000"/>
            <a:ext cx="10609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3E3E"/>
                </a:solidFill>
                <a:latin typeface="Pretendard"/>
              </a:rPr>
              <a:t>진단(주 1회, On-device AI)과 운동(매일, TV 대화면)의 기능적 분리를 통한 최적 인프라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196000"/>
            <a:ext cx="2340000" cy="24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400" y="2348400"/>
            <a:ext cx="203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66FF"/>
                </a:solidFill>
                <a:latin typeface="Pretendard"/>
              </a:rPr>
              <a:t>Client Tier (사용자)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000" y="2628000"/>
            <a:ext cx="2052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8000" y="2704200"/>
            <a:ext cx="190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C1C"/>
                </a:solidFill>
                <a:latin typeface="Pretendard"/>
              </a:rPr>
              <a:t>📱 스마트폰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000" y="2958200"/>
            <a:ext cx="1908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E3E3E"/>
                </a:solidFill>
                <a:latin typeface="Pretendard"/>
              </a:rPr>
              <a:t>React Native (Expo)
MediaPipe Pose (On-device)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000" y="3564000"/>
            <a:ext cx="2052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000" y="3640200"/>
            <a:ext cx="190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C1C"/>
                </a:solidFill>
                <a:latin typeface="Pretendard"/>
              </a:rPr>
              <a:t>📺 스마트 TV / 미러링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00" y="3894200"/>
            <a:ext cx="1908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E3E3E"/>
                </a:solidFill>
                <a:latin typeface="Pretendard"/>
              </a:rPr>
              <a:t>WebOS / Tizen / HDMI
Lottie-web 안무 재생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196000"/>
            <a:ext cx="2340000" cy="24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4400" y="2348400"/>
            <a:ext cx="203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66FF"/>
                </a:solidFill>
                <a:latin typeface="Pretendard"/>
              </a:rPr>
              <a:t>Server Tier (Docker)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16000" y="2628000"/>
            <a:ext cx="2052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8000" y="2704200"/>
            <a:ext cx="190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C1C"/>
                </a:solidFill>
                <a:latin typeface="Pretendard"/>
              </a:rPr>
              <a:t>⚙️ FastAPI API 서버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8000" y="2958200"/>
            <a:ext cx="1908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E3E3E"/>
                </a:solidFill>
                <a:latin typeface="Pretendard"/>
              </a:rPr>
              <a:t>Python 3.10+ / REST API
데이터 유효성 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16000" y="3564000"/>
            <a:ext cx="2052000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8000" y="3640200"/>
            <a:ext cx="190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C1C"/>
                </a:solidFill>
                <a:latin typeface="Pretendard"/>
              </a:rPr>
              <a:t>🔄 비동기 큐 워커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8000" y="3894200"/>
            <a:ext cx="1908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E3E3E"/>
                </a:solidFill>
                <a:latin typeface="Pretendard"/>
              </a:rPr>
              <a:t>Celery + Redis Broker
안무 생성 연산 분리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52000" y="2196000"/>
            <a:ext cx="2592000" cy="24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4400" y="2348400"/>
            <a:ext cx="2287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66FF"/>
                </a:solidFill>
                <a:latin typeface="Pretendard"/>
              </a:rPr>
              <a:t>Data &amp; Storage Tier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96000" y="2628000"/>
            <a:ext cx="230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68000" y="2678800"/>
            <a:ext cx="2151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Pretendard"/>
              </a:rPr>
              <a:t>🐘 PostgreSQL 16 (시계열 DB)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8000" y="2882000"/>
            <a:ext cx="2151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E3E3E"/>
                </a:solidFill>
                <a:latin typeface="Pretendard"/>
              </a:rPr>
              <a:t>어르신 정보 &amp; 누적 ROM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96000" y="3240000"/>
            <a:ext cx="230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68000" y="3290800"/>
            <a:ext cx="2151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Pretendard"/>
              </a:rPr>
              <a:t>🧠 ChromaDB (벡터 DB)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8000" y="3494000"/>
            <a:ext cx="2151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E3E3E"/>
                </a:solidFill>
                <a:latin typeface="Pretendard"/>
              </a:rPr>
              <a:t>36개 임상 가이드 &amp; 안무 RAG 검색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96000" y="3851999"/>
            <a:ext cx="230400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68000" y="3902799"/>
            <a:ext cx="2151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Pretendard"/>
              </a:rPr>
              <a:t>📦 MinIO Object 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8000" y="4105999"/>
            <a:ext cx="2151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E3E3E"/>
                </a:solidFill>
                <a:latin typeface="Pretendard"/>
              </a:rPr>
              <a:t>최종 생성 안무 JSON 데이터 저장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132000" y="3024000.0"/>
            <a:ext cx="1440000" cy="0.0"/>
          </a:xfrm>
          <a:prstGeom prst="line">
            <a:avLst/>
          </a:prstGeom>
          <a:ln w="19050">
            <a:solidFill>
              <a:srgbClr val="01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04000" y="2820800"/>
            <a:ext cx="129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166FF"/>
                </a:solidFill>
                <a:latin typeface="Pretendard"/>
              </a:rPr>
              <a:t>1. ROM 데이터 송신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742000.0" y="3420000"/>
            <a:ext cx="0.0" cy="144000"/>
          </a:xfrm>
          <a:prstGeom prst="line">
            <a:avLst/>
          </a:prstGeom>
          <a:ln w="19050">
            <a:solidFill>
              <a:srgbClr val="01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02000" y="3456000"/>
            <a:ext cx="108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F5F5F"/>
                </a:solidFill>
                <a:latin typeface="Pretendard"/>
              </a:rPr>
              <a:t>2. 안무생성 위임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912000" y="2892000.0"/>
            <a:ext cx="1440000" cy="6000.0"/>
          </a:xfrm>
          <a:prstGeom prst="line">
            <a:avLst/>
          </a:prstGeom>
          <a:ln w="19050">
            <a:solidFill>
              <a:srgbClr val="01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912000" y="3182400.0"/>
            <a:ext cx="1440000" cy="327600.0"/>
          </a:xfrm>
          <a:prstGeom prst="line">
            <a:avLst/>
          </a:prstGeom>
          <a:ln w="19050">
            <a:solidFill>
              <a:srgbClr val="01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912000" y="3960000.0"/>
            <a:ext cx="1440000" cy="161999.0"/>
          </a:xfrm>
          <a:prstGeom prst="line">
            <a:avLst/>
          </a:prstGeom>
          <a:ln w="19050">
            <a:solidFill>
              <a:srgbClr val="00B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984000" y="3756800"/>
            <a:ext cx="129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0B882"/>
                </a:solidFill>
                <a:latin typeface="Pretendard"/>
              </a:rPr>
              <a:t>3. 안무 JSON 업로드</a:t>
            </a:r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3132000" y="4118400.0"/>
            <a:ext cx="5220000" cy="273599.0"/>
          </a:xfrm>
          <a:prstGeom prst="line">
            <a:avLst/>
          </a:prstGeom>
          <a:ln w="19050">
            <a:solidFill>
              <a:srgbClr val="00B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312000" y="4298400"/>
            <a:ext cx="360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82"/>
                </a:solidFill>
                <a:latin typeface="Pretendard"/>
              </a:rPr>
              <a:t>4. 캐스팅 미러링 (안무 다운로드 &amp; TV 렌더링)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2000" y="4788000"/>
            <a:ext cx="10609200" cy="503999"/>
          </a:xfrm>
          <a:prstGeom prst="rect">
            <a:avLst/>
          </a:prstGeom>
          <a:solidFill>
            <a:srgbClr val="0A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5200" y="4940400"/>
            <a:ext cx="1020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💡 특징: 연산 부하가 높은 Vision AI와 안무 생성을 모바일 On-device(주 1회)와 서버 비동기(Celery)로 처리하여,
어르신 기기(보급형 폰, TV)는 단순 VOD 음악 렌더링에만 집중하여 발열 및 배터리 급방전을 차단합니다.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06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MARKET &amp; BUSINESS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464100"/>
            <a:ext cx="848736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8A"/>
                </a:solidFill>
                <a:latin typeface="Pretendard"/>
              </a:rPr>
              <a:t>출처: 2025 통계청  |  2024 건강보험통계연보  |  돌봄통합지원법 2026.3 시행  |  일본 총무성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774000"/>
            <a:ext cx="10609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C"/>
                </a:solidFill>
                <a:latin typeface="Pretendard"/>
              </a:rPr>
              <a:t>초고령사회 근골격 예방 시장성 및 B2G 사업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620000"/>
            <a:ext cx="10609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3E3E"/>
                </a:solidFill>
                <a:latin typeface="Pretendard"/>
              </a:rPr>
              <a:t>사후 치료에서 '가정 내 사전 예방'으로의 공공 의료 정책 변화에 맞춘 비즈니스 모델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124000"/>
            <a:ext cx="5196600" cy="104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600" y="2301800"/>
            <a:ext cx="47394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82C0C"/>
                </a:solidFill>
                <a:latin typeface="Pretendard"/>
              </a:rPr>
              <a:t>20.3% / 29.4%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600" y="2784400"/>
            <a:ext cx="4739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Pretendard"/>
              </a:rPr>
              <a:t>한·일 65세 이상 고령층 인구 비중 (초고령사회)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240000"/>
            <a:ext cx="5196600" cy="104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0600" y="3417800"/>
            <a:ext cx="47394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C1C"/>
                </a:solidFill>
                <a:latin typeface="Pretendard"/>
              </a:rPr>
              <a:t>551만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600" y="3900400"/>
            <a:ext cx="4739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Pretendard"/>
              </a:rPr>
              <a:t>노인 1인 연평균 진료비 (건강보험 재정 위기)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4356000"/>
            <a:ext cx="5196600" cy="104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0600" y="4533800"/>
            <a:ext cx="47394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882"/>
                </a:solidFill>
                <a:latin typeface="Pretendard"/>
              </a:rPr>
              <a:t>10조 엔 규모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0600" y="5016400"/>
            <a:ext cx="4739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Pretendard"/>
              </a:rPr>
              <a:t>일본 시니어 헬스케어 시장 및 개호 예방 수요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5472000"/>
            <a:ext cx="5196600" cy="432000"/>
          </a:xfrm>
          <a:prstGeom prst="rect">
            <a:avLst/>
          </a:prstGeom>
          <a:solidFill>
            <a:srgbClr val="E6F8F3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400" y="5573600"/>
            <a:ext cx="489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882"/>
                </a:solidFill>
                <a:latin typeface="Pretendard"/>
              </a:rPr>
              <a:t>2026년 3월 '돌봄통합지원법' 시행 대응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400" y="5776800"/>
            <a:ext cx="489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E3E3E"/>
                </a:solidFill>
                <a:latin typeface="Pretendard"/>
              </a:rPr>
              <a:t>지자체 중심의 예방 헬스케어 플랫폼 정책 긴밀 연계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600" y="2124000"/>
            <a:ext cx="5196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Pretendard"/>
              </a:rPr>
              <a:t>B2G 및 B2B 하이브리드 비즈니스 모델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4600" y="2479600"/>
            <a:ext cx="51966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4600" y="2479600"/>
            <a:ext cx="50800" cy="1080000"/>
          </a:xfrm>
          <a:prstGeom prst="rect">
            <a:avLst/>
          </a:prstGeom>
          <a:solidFill>
            <a:srgbClr val="00B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400" y="2581200"/>
            <a:ext cx="4891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882"/>
                </a:solidFill>
                <a:latin typeface="Pretendard"/>
              </a:rPr>
              <a:t>Phase 1: 지자체 거점 실증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400" y="2784400"/>
            <a:ext cx="4891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Pretendard"/>
              </a:rPr>
              <a:t>행정복지센터 / 노인복지관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400" y="3063800"/>
            <a:ext cx="48918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950" b="0">
                <a:solidFill>
                  <a:srgbClr val="3E3E3E"/>
                </a:solidFill>
                <a:latin typeface="Pretendard"/>
              </a:rPr>
              <a:t>복지시설 내 어르신 Onboarding 터미널 운영 및 TV 미러링 하드웨어(Chromecast) 시범 보급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4600" y="3631600"/>
            <a:ext cx="51966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600" y="3631600"/>
            <a:ext cx="50800" cy="10800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400" y="3733200"/>
            <a:ext cx="4891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166FF"/>
                </a:solidFill>
                <a:latin typeface="Pretendard"/>
              </a:rPr>
              <a:t>Phase 2: 복지 대시보드 구독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400" y="3936400"/>
            <a:ext cx="4891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Pretendard"/>
              </a:rPr>
              <a:t>공공/요양 요원 모니터링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400" y="4215800"/>
            <a:ext cx="48918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950" b="0">
                <a:solidFill>
                  <a:srgbClr val="3E3E3E"/>
                </a:solidFill>
                <a:latin typeface="Pretendard"/>
              </a:rPr>
              <a:t>누적된 ROM 데이터 기반 주간 이상 징후 감지 및 요양 관리자용 모니터링 웹 대시보드 SaaS 라이선스 판매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4600" y="4783600"/>
            <a:ext cx="51966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4600" y="4783600"/>
            <a:ext cx="50800" cy="108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400" y="4885200"/>
            <a:ext cx="4891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6D00"/>
                </a:solidFill>
                <a:latin typeface="Pretendard"/>
              </a:rPr>
              <a:t>Phase 3: 글로벌 시장 확장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400" y="5088400"/>
            <a:ext cx="4891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Pretendard"/>
              </a:rPr>
              <a:t>일본 개호보험(요양보험) 연계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400" y="5367800"/>
            <a:ext cx="48918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950" b="0">
                <a:solidFill>
                  <a:srgbClr val="3E3E3E"/>
                </a:solidFill>
                <a:latin typeface="Pretendard"/>
              </a:rPr>
              <a:t>높은 노인 AI 수용성을 바탕으로 일본 현지 지역포괄케어 시스템 거점에 소프트웨어 라이선스 공급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07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TEAM &amp; WORK BREAKDOWN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774000"/>
            <a:ext cx="10609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C"/>
                </a:solidFill>
                <a:latin typeface="Pretendard"/>
              </a:rPr>
              <a:t>역할 세분화 및 WBS 기반 병렬 개발 체계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20000"/>
            <a:ext cx="10609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3E3E"/>
                </a:solidFill>
                <a:latin typeface="Pretendard"/>
              </a:rPr>
              <a:t>API Contract(JSON 규격) 선행 설계를 통한 마일스톤 준수 및 결과물 중심의 협업 실적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124000"/>
            <a:ext cx="2571300" cy="22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000" y="2124000"/>
            <a:ext cx="2571300" cy="50800"/>
          </a:xfrm>
          <a:prstGeom prst="rect">
            <a:avLst/>
          </a:prstGeom>
          <a:solidFill>
            <a:srgbClr val="00B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4400" y="2301800"/>
            <a:ext cx="2266500" cy="17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400" y="2301800"/>
            <a:ext cx="2266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B882"/>
                </a:solidFill>
                <a:latin typeface="Pretendard"/>
              </a:rPr>
              <a:t>PM &amp; AI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400" y="2555800"/>
            <a:ext cx="2266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Pretendard"/>
              </a:rPr>
              <a:t>박준형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400" y="2886000"/>
            <a:ext cx="22665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400" y="2962200"/>
            <a:ext cx="22665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3E3E3E"/>
                </a:solidFill>
                <a:latin typeface="Pretendard"/>
              </a:rPr>
              <a:t>• 프로젝트 총괄 기획 및 마일스톤 관리
• 안무 RAG 프롬프트 모델 엔지니어링
• 임상 ROM 판단용 36개 의학 가이드 문서 수집 및 구조화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400" y="3924000"/>
            <a:ext cx="2266500" cy="228600"/>
          </a:xfrm>
          <a:prstGeom prst="rect">
            <a:avLst/>
          </a:prstGeom>
          <a:solidFill>
            <a:srgbClr val="00B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400" y="3924000"/>
            <a:ext cx="2266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Project PM &amp; RAG Designer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1300" y="2124000"/>
            <a:ext cx="2571300" cy="22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1300" y="2124000"/>
            <a:ext cx="2571300" cy="508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23700" y="2301800"/>
            <a:ext cx="2266500" cy="17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3700" y="2301800"/>
            <a:ext cx="2266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166FF"/>
                </a:solidFill>
                <a:latin typeface="Pretendard"/>
              </a:rPr>
              <a:t>Vision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3700" y="2555800"/>
            <a:ext cx="2266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Pretendard"/>
              </a:rPr>
              <a:t>조영진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23700" y="2886000"/>
            <a:ext cx="22665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3700" y="2962200"/>
            <a:ext cx="22665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3E3E3E"/>
                </a:solidFill>
                <a:latin typeface="Pretendard"/>
              </a:rPr>
              <a:t>• MediaPipe Pose Task API 활용 파이프라인 구현
• 3D 월드 좌표 기반 상하지 관절 ROM 분석 엔진 구축
• PC CPU 실측 벤치마크 (10.48ms / 95FPS) 측정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23700" y="3924000"/>
            <a:ext cx="2266500" cy="2286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23700" y="3924000"/>
            <a:ext cx="2266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snapshot_rom_pipeline.py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0600" y="2124000"/>
            <a:ext cx="2571300" cy="22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0600" y="2124000"/>
            <a:ext cx="2571300" cy="5080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3000" y="2301800"/>
            <a:ext cx="2266500" cy="17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3000" y="2301800"/>
            <a:ext cx="2266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7B2FBF"/>
                </a:solidFill>
                <a:latin typeface="Pretendard"/>
              </a:rPr>
              <a:t>Backend &amp;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3000" y="2555800"/>
            <a:ext cx="2266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Pretendard"/>
              </a:rPr>
              <a:t>이태균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3000" y="2886000"/>
            <a:ext cx="22665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3000" y="2962200"/>
            <a:ext cx="22665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3E3E3E"/>
                </a:solidFill>
                <a:latin typeface="Pretendard"/>
              </a:rPr>
              <a:t>• FastAPI REST API 구축 및 JWT 사용자 인증
• 안무 추천 RAG (ChromaDB + LangChain) 연동
• Celery 비동기 워커 및 PostgreSQL 스키마 구축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3000" y="3924000"/>
            <a:ext cx="2266500" cy="228600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3000" y="3924000"/>
            <a:ext cx="2266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FastAPI + Celery Server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9900" y="2124000"/>
            <a:ext cx="2571300" cy="22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29900" y="2124000"/>
            <a:ext cx="257130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82300" y="2301800"/>
            <a:ext cx="2266500" cy="17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2300" y="2301800"/>
            <a:ext cx="22665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6D00"/>
                </a:solidFill>
                <a:latin typeface="Pretendard"/>
              </a:rPr>
              <a:t>Frontend &amp; Cloud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2300" y="2555800"/>
            <a:ext cx="2266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1C"/>
                </a:solidFill>
                <a:latin typeface="Pretendard"/>
              </a:rPr>
              <a:t>한상협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82300" y="2886000"/>
            <a:ext cx="22665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2300" y="2962200"/>
            <a:ext cx="22665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</a:pPr>
            <a:r>
              <a:rPr sz="950" b="0">
                <a:solidFill>
                  <a:srgbClr val="3E3E3E"/>
                </a:solidFill>
                <a:latin typeface="Pretendard"/>
              </a:rPr>
              <a:t>• React Native (Expo) 카메라 제어 및 UI 뷰 구현
• Chromecast SDK 활용 TV 연동 및 VOD 플레이어 제어
• Docker Compose 인프라 및 Grafana 모니터링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82300" y="3924000"/>
            <a:ext cx="2266500" cy="228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2300" y="3924000"/>
            <a:ext cx="2266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Mobile-TV Unified 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2000" y="4464000"/>
            <a:ext cx="10609200" cy="172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800" y="4591000"/>
            <a:ext cx="1025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C1C"/>
                </a:solidFill>
                <a:latin typeface="Pretendard"/>
              </a:rPr>
              <a:t>📅 Sprint 기반 점진적 개발 일정 및 진척도 (5/12 ~ 7/7)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2000" y="4824000"/>
            <a:ext cx="25443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9000" y="4925600"/>
            <a:ext cx="22903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66FF"/>
                </a:solidFill>
                <a:latin typeface="Pretendard"/>
              </a:rPr>
              <a:t>사전 준비 (5.12 ~ 5.22)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000" y="5179600"/>
            <a:ext cx="22903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3E3E3E"/>
                </a:solidFill>
                <a:latin typeface="Pretendard"/>
              </a:rPr>
              <a:t>✅ PRD 작성 및 시스템 설계 완료
✅ OpenAPI 규격 문서 및 JSON 스키마 합의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80300" y="4824000"/>
            <a:ext cx="25443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7300" y="4925600"/>
            <a:ext cx="22903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66FF"/>
                </a:solidFill>
                <a:latin typeface="Pretendard"/>
              </a:rPr>
              <a:t>1차 MVP 개발 (5.22 ~ 7.5)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07300" y="5179600"/>
            <a:ext cx="22903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3E3E3E"/>
                </a:solidFill>
                <a:latin typeface="Pretendard"/>
              </a:rPr>
              <a:t>✅ MediaPipe 기반 3D ROM 측정 알고리즘 완성
✅ FastAPI 서버 + RAG 안무 생성 로직 연동 완료
✅ React Native UI + TV 미러링 기본 연동 완료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68600" y="4824000"/>
            <a:ext cx="25443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95600" y="4925600"/>
            <a:ext cx="22903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66FF"/>
                </a:solidFill>
                <a:latin typeface="Pretendard"/>
              </a:rPr>
              <a:t>2차 필드 테스트 (7.8 ~ 8.17)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95600" y="5179600"/>
            <a:ext cx="22903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3E3E3E"/>
                </a:solidFill>
                <a:latin typeface="Pretendard"/>
              </a:rPr>
              <a:t>🔄 스마트 TV 전용 앱 개발 (WebOS/Tizen)
🔄 65세 이상 실제 노년층 10인 대상 필드 사용성 테스트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56900" y="4824000"/>
            <a:ext cx="25443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83900" y="4925600"/>
            <a:ext cx="22903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E3E3E"/>
                </a:solidFill>
                <a:latin typeface="Pretendard"/>
              </a:rPr>
              <a:t>최종 고도화 (8.19 ~ 9.1)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3900" y="5179600"/>
            <a:ext cx="22903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3E3E3E"/>
                </a:solidFill>
                <a:latin typeface="Pretendard"/>
              </a:rPr>
              <a:t>⬜ 대규모 트래픽 부하 테스트 및 보안 감사 (Bandit / OWASP ZAP)
⬜ 지자체 파트너십 제안용 최종 성과 측정 리포트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08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TECHNOLOGY — VISION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464100"/>
            <a:ext cx="848736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8A"/>
                </a:solidFill>
                <a:latin typeface="Pretendard"/>
              </a:rPr>
              <a:t>출처: Namdari 2012  |  Morrey 1981  |  Rowe 2000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774000"/>
            <a:ext cx="10609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C"/>
                </a:solidFill>
                <a:latin typeface="Pretendard"/>
              </a:rPr>
              <a:t>MediaPipe 3D 관절 각도 정밀 보정 및 ROM 엔진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620000"/>
            <a:ext cx="10609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3E3E"/>
                </a:solidFill>
                <a:latin typeface="Pretendard"/>
              </a:rPr>
              <a:t>On-device AI 경량화와 3차원 해부학적 각도 보정 알고리즘을 통한 오차 최소화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200200"/>
            <a:ext cx="503999" cy="1778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200200"/>
            <a:ext cx="503999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0000" y="2124000"/>
            <a:ext cx="4692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1">
                <a:solidFill>
                  <a:srgbClr val="1C1C1C"/>
                </a:solidFill>
                <a:latin typeface="Pretendard"/>
              </a:rPr>
              <a:t>카메라 전처리 및 정규화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0000" y="2403400"/>
            <a:ext cx="4692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 b="0">
                <a:solidFill>
                  <a:srgbClr val="5F5F5F"/>
                </a:solidFill>
                <a:latin typeface="Pretendard"/>
              </a:rPr>
              <a:t>Expo Camera 실시간 모바일 캡처 및 OpenCV 영상 프레임 크기 조정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000" y="2818600"/>
            <a:ext cx="25400" cy="10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00" y="2985000"/>
            <a:ext cx="503999" cy="1778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2985000"/>
            <a:ext cx="503999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0000" y="2908800"/>
            <a:ext cx="4692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1">
                <a:solidFill>
                  <a:srgbClr val="1C1C1C"/>
                </a:solidFill>
                <a:latin typeface="Pretendard"/>
              </a:rPr>
              <a:t>On-device 3D 좌표 추출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" y="3188200"/>
            <a:ext cx="4692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 b="0">
                <a:solidFill>
                  <a:srgbClr val="5F5F5F"/>
                </a:solidFill>
                <a:latin typeface="Pretendard"/>
              </a:rPr>
              <a:t>MediaPipe Pose Landmarker 활용, 33개 신체 관절 3차원 월드 좌표(x, y, z) 획득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000" y="3603400"/>
            <a:ext cx="25400" cy="10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000" y="3769800"/>
            <a:ext cx="503999" cy="1778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" y="3769800"/>
            <a:ext cx="503999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0000" y="3693600"/>
            <a:ext cx="4692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1">
                <a:solidFill>
                  <a:srgbClr val="1C1C1C"/>
                </a:solidFill>
                <a:latin typeface="Pretendard"/>
              </a:rPr>
              <a:t>3D→2D 폴백 &amp; AMA 절대각 변환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0000" y="3973000"/>
            <a:ext cx="4692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 b="0">
                <a:solidFill>
                  <a:srgbClr val="5F5F5F"/>
                </a:solidFill>
                <a:latin typeface="Pretendard"/>
              </a:rPr>
              <a:t>Z축 왜곡에 따른 각도 계산 오차 19° 교정 및 카메라 왜곡 없는 관절 고유 ROM 연산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0000" y="4388200"/>
            <a:ext cx="25400" cy="10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2000" y="4554600"/>
            <a:ext cx="503999" cy="1778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" y="4554600"/>
            <a:ext cx="503999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0000" y="4478400"/>
            <a:ext cx="4692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1">
                <a:solidFill>
                  <a:srgbClr val="1C1C1C"/>
                </a:solidFill>
                <a:latin typeface="Pretendard"/>
              </a:rPr>
              <a:t>ROM 등급 판정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0000" y="4757800"/>
            <a:ext cx="4692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 b="0">
                <a:solidFill>
                  <a:srgbClr val="5F5F5F"/>
                </a:solidFill>
                <a:latin typeface="Pretendard"/>
              </a:rPr>
              <a:t>NORMAL / WARNING / CRITICAL 3등급 판별 (`ERROR_MARGIN_DEG = 6.0` 적용)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2600" y="2124000"/>
            <a:ext cx="2490300" cy="61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1200" y="2301800"/>
            <a:ext cx="20331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66FF"/>
                </a:solidFill>
                <a:latin typeface="Pretendard"/>
              </a:rPr>
              <a:t>10.48ms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1200" y="2784400"/>
            <a:ext cx="20331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Pretendard"/>
              </a:rPr>
              <a:t>PC CPU 1프레임 추론 속도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0900" y="2124000"/>
            <a:ext cx="2490300" cy="61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9500" y="2301800"/>
            <a:ext cx="20331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882"/>
                </a:solidFill>
                <a:latin typeface="Pretendard"/>
              </a:rPr>
              <a:t>95.42 FPS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9500" y="2784400"/>
            <a:ext cx="20331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Pretendard"/>
              </a:rPr>
              <a:t>실측 처리 가능 프레임 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2600" y="2844000"/>
            <a:ext cx="508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C1C"/>
                </a:solidFill>
                <a:latin typeface="Pretendard"/>
              </a:rPr>
              <a:t>주요 관절별 정상 가동범위 임상 문헌 기준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12600" y="3123400"/>
            <a:ext cx="5088600" cy="37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4200" y="3174200"/>
            <a:ext cx="178101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1C1C"/>
                </a:solidFill>
                <a:latin typeface="Pretendard"/>
              </a:rPr>
              <a:t>어깨 굴곡/외전 (Shoulder)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4410" y="3174200"/>
            <a:ext cx="178101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882"/>
                </a:solidFill>
                <a:latin typeface="Pretendard"/>
              </a:rPr>
              <a:t>NORMAL ≥ 120°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5420" y="3174200"/>
            <a:ext cx="152658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8A"/>
                </a:solidFill>
                <a:latin typeface="Pretendard"/>
              </a:rPr>
              <a:t>Namdari 2012 (JSES)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12600" y="3501400"/>
            <a:ext cx="50886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4200" y="3552200"/>
            <a:ext cx="178101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1C1C"/>
                </a:solidFill>
                <a:latin typeface="Pretendard"/>
              </a:rPr>
              <a:t>팔꿈치 굴곡 (Elbow)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44410" y="3552200"/>
            <a:ext cx="178101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882"/>
                </a:solidFill>
                <a:latin typeface="Pretendard"/>
              </a:rPr>
              <a:t>NORMAL ≥ 130°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5420" y="3552200"/>
            <a:ext cx="152658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8A"/>
                </a:solidFill>
                <a:latin typeface="Pretendard"/>
              </a:rPr>
              <a:t>Morrey 1981 (JBJS)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12600" y="3879400"/>
            <a:ext cx="5088600" cy="37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4200" y="3930200"/>
            <a:ext cx="178101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1C1C"/>
                </a:solidFill>
                <a:latin typeface="Pretendard"/>
              </a:rPr>
              <a:t>무릎 굴곡 (Knee)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44410" y="3930200"/>
            <a:ext cx="178101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882"/>
                </a:solidFill>
                <a:latin typeface="Pretendard"/>
              </a:rPr>
              <a:t>NORMAL ≥ 120°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5420" y="3930200"/>
            <a:ext cx="152658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8A"/>
                </a:solidFill>
                <a:latin typeface="Pretendard"/>
              </a:rPr>
              <a:t>Rowe 2000 (Gait &amp; Posture)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12600" y="4257400"/>
            <a:ext cx="5088600" cy="3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4200" y="4308200"/>
            <a:ext cx="178101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1C1C"/>
                </a:solidFill>
                <a:latin typeface="Pretendard"/>
              </a:rPr>
              <a:t>하지 좌우 비대칭 (Asymmetry)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44410" y="4308200"/>
            <a:ext cx="178101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882"/>
                </a:solidFill>
                <a:latin typeface="Pretendard"/>
              </a:rPr>
              <a:t>NORMAL ≤ 9° (경고 ≥ 15°)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5420" y="4308200"/>
            <a:ext cx="1526580" cy="32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8A"/>
                </a:solidFill>
                <a:latin typeface="Pretendard"/>
              </a:rPr>
              <a:t>Atkinson 1998 (Sports Med)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09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TECHNOLOGY — RAG &amp;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464100"/>
            <a:ext cx="848736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8A"/>
                </a:solidFill>
                <a:latin typeface="Pretendard"/>
              </a:rPr>
              <a:t>ChromaDB 36개 가이드라인 임베딩 확인  |  기본 검색 오차 거리값 0.119 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774000"/>
            <a:ext cx="10609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C"/>
                </a:solidFill>
                <a:latin typeface="Pretendard"/>
              </a:rPr>
              <a:t>RAG 기반 맞춤형 안무 처방 알고리즘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620000"/>
            <a:ext cx="10609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3E3E"/>
                </a:solidFill>
                <a:latin typeface="Pretendard"/>
              </a:rPr>
              <a:t>측정된 관절 ROM을 기반으로 무릎 및 허리에 가해지는 과부하를 원천 차단하고 안전한 트로트 동작 조합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124000"/>
            <a:ext cx="2571300" cy="1872000"/>
          </a:xfrm>
          <a:prstGeom prst="rect">
            <a:avLst/>
          </a:prstGeom>
          <a:solidFill>
            <a:srgbClr val="E6F8F3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400" y="2276400"/>
            <a:ext cx="2266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882"/>
                </a:solidFill>
                <a:latin typeface="Pretendard"/>
              </a:rPr>
              <a:t>ROM 측정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400" y="2606600"/>
            <a:ext cx="22665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무릎 굴곡 115°
어깨 외전 95°
(측정값 JSON 패킷)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1300" y="2933000"/>
            <a:ext cx="9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166FF"/>
                </a:solidFill>
                <a:latin typeface="Pretendar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1300" y="2124000"/>
            <a:ext cx="2571300" cy="1872000"/>
          </a:xfrm>
          <a:prstGeom prst="rect">
            <a:avLst/>
          </a:prstGeom>
          <a:solidFill>
            <a:srgbClr val="E8F2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3700" y="2276400"/>
            <a:ext cx="2266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66FF"/>
                </a:solidFill>
                <a:latin typeface="Pretendard"/>
              </a:rPr>
              <a:t>ChromaDB RAG 검색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700" y="2606600"/>
            <a:ext cx="22665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36개 노인 안전 운동 규격 및
동작 금기 가이드 문서 벡터 검색
(유사도 임계값 0.119)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0600" y="2933000"/>
            <a:ext cx="9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166FF"/>
                </a:solidFill>
                <a:latin typeface="Pretendard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0600" y="2124000"/>
            <a:ext cx="2571300" cy="18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3000" y="2276400"/>
            <a:ext cx="2266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Pretendard"/>
              </a:rPr>
              <a:t>LLM 안무 처방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3000" y="2606600"/>
            <a:ext cx="22665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Llama-3.2 / GPT-4o
"무릎/허리 부하를 방지하는
트로트 리듬 안무 7종 조합"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9900" y="2933000"/>
            <a:ext cx="9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166FF"/>
                </a:solidFill>
                <a:latin typeface="Pretendard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9900" y="2124000"/>
            <a:ext cx="2571300" cy="1872000"/>
          </a:xfrm>
          <a:prstGeom prst="rect">
            <a:avLst/>
          </a:prstGeom>
          <a:solidFill>
            <a:srgbClr val="E8FFF5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2300" y="2276400"/>
            <a:ext cx="22665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882"/>
                </a:solidFill>
                <a:latin typeface="Pretendard"/>
              </a:rPr>
              <a:t>동작 JSON 송출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2300" y="2606600"/>
            <a:ext cx="22665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Lottie 애니메이션 키 및
피토그래픽 가이드 매핑
(스마트 TV 전송)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4176000"/>
            <a:ext cx="10609200" cy="900000"/>
          </a:xfrm>
          <a:prstGeom prst="rect">
            <a:avLst/>
          </a:prstGeom>
          <a:solidFill>
            <a:srgbClr val="0A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5200" y="4303000"/>
            <a:ext cx="47741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RAG 실증 데이터 결과 및 신뢰성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200" y="4557000"/>
            <a:ext cx="10202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Pretendard"/>
              </a:rPr>
              <a:t>• ChromaDB 벡터 데이터베이스 적재: 36개 임상 학술 운동 기준 탑재 완료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200" y="4734800"/>
            <a:ext cx="10202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Pretendard"/>
              </a:rPr>
              <a:t>• RAG 쿼리 테스트 결과: '어깨 외전 제한 어르신의 운동 가이드 요청'에 대해 97% 일치도로 안전 동작 반환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200" y="4912600"/>
            <a:ext cx="10202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Pretendard"/>
              </a:rPr>
              <a:t>• LLM의 Hallucination(환각) 차단: 임임의 안무가 아닌 정식 의학적 안무 스키마 규격으로만 데이터 출력 통제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IMPLEMENTATION &amp; USABILITY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774000"/>
            <a:ext cx="10609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C"/>
                </a:solidFill>
                <a:latin typeface="Pretendard"/>
              </a:rPr>
              <a:t>스마트폰-TV 연동 운동 서비스 동작 시연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20000"/>
            <a:ext cx="10609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3E3E"/>
                </a:solidFill>
                <a:latin typeface="Pretendard"/>
              </a:rPr>
              <a:t>주 1회 스마트폰 관절 진단부터 매일 거실 TV 대화면 운동 재생까지의 Core Loop 실증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124000"/>
            <a:ext cx="7214256" cy="3240000"/>
          </a:xfrm>
          <a:prstGeom prst="rect">
            <a:avLst/>
          </a:prstGeom>
          <a:solidFill>
            <a:srgbClr val="0A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124000"/>
            <a:ext cx="7214256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</a:pPr>
            <a:r>
              <a:rPr sz="1800" b="1">
                <a:solidFill>
                  <a:srgbClr val="FFFFFF"/>
                </a:solidFill>
                <a:latin typeface="Pretendard"/>
              </a:rPr>
              <a:t>[ 시연 영상 재생 구역 ]
app_test.mp4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6256" y="2124000"/>
            <a:ext cx="3214943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Pretendard"/>
              </a:rPr>
              <a:t>주요 관찰 핵심 포인트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6256" y="2505000"/>
            <a:ext cx="254000" cy="254000"/>
          </a:xfrm>
          <a:prstGeom prst="rect">
            <a:avLst/>
          </a:prstGeom>
          <a:solidFill>
            <a:srgbClr val="00B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6256" y="250500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6456" y="2505000"/>
            <a:ext cx="2833943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스마트폰 전면 카메라를 통한 ROM FMS 자가 진단 동작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6256" y="3261000"/>
            <a:ext cx="254000" cy="2540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6256" y="326100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6456" y="3261000"/>
            <a:ext cx="2833943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실시간 관절 랜드마크 추출 및 오버레이 시각화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6256" y="4017000"/>
            <a:ext cx="254000" cy="254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6256" y="401700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6456" y="4017000"/>
            <a:ext cx="2833943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분석 결과 NORMAL/WARNING/CRITICAL 판정 및 등급 표출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6256" y="4773000"/>
            <a:ext cx="254000" cy="254000"/>
          </a:xfrm>
          <a:prstGeom prst="rect">
            <a:avLst/>
          </a:prstGeom>
          <a:solidFill>
            <a:srgbClr val="00B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6256" y="4773000"/>
            <a:ext cx="25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6456" y="4773000"/>
            <a:ext cx="2833943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Chromecast 미러링 연동을 통한 거실 TV 대화면 안무 재생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000" y="5489999"/>
            <a:ext cx="1060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Pretendard"/>
              </a:rPr>
              <a:t>발표 팁: 실제 시연이 작동하는 완성도를 보여주어 구현 및 유용성 평가 만점(20점)을 타겟합니다.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C1C1C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retendard"/>
              </a:rP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ROADMAP &amp; CLOSING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774000"/>
            <a:ext cx="10609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C"/>
                </a:solidFill>
                <a:latin typeface="Pretendard"/>
              </a:rPr>
              <a:t>향후 개발 로드맵 및 클로징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20000"/>
            <a:ext cx="10609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3E3E"/>
                </a:solidFill>
                <a:latin typeface="Pretendard"/>
              </a:rPr>
              <a:t>초고령사회 어르신 삶의 질을 높이는 예방 의학 기술 생태계를 구축하겠습니다.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124000"/>
            <a:ext cx="3440400" cy="28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000" y="2124000"/>
            <a:ext cx="3440400" cy="63500"/>
          </a:xfrm>
          <a:prstGeom prst="rect">
            <a:avLst/>
          </a:prstGeom>
          <a:solidFill>
            <a:srgbClr val="00B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4400" y="2301800"/>
            <a:ext cx="1007999" cy="203200"/>
          </a:xfrm>
          <a:prstGeom prst="rect">
            <a:avLst/>
          </a:prstGeom>
          <a:solidFill>
            <a:srgbClr val="00B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400" y="2301800"/>
            <a:ext cx="1007999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400" y="2581200"/>
            <a:ext cx="31356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1">
                <a:solidFill>
                  <a:srgbClr val="1C1C1C"/>
                </a:solidFill>
                <a:latin typeface="Pretendard"/>
              </a:rPr>
              <a:t>현재 마일스톤 (Phase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400" y="3089200"/>
            <a:ext cx="3135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400" y="3190800"/>
            <a:ext cx="31356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• MediaPipe 3D 관절 추론 엔진 완성
• ChromaDB RAG 안무 처방 탑재
• FastAPI 백엔드 + React Native 앱 연동
• 시연 프로토타입 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6400" y="2124000"/>
            <a:ext cx="3440400" cy="28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6400" y="2124000"/>
            <a:ext cx="3440400" cy="635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8800" y="2301800"/>
            <a:ext cx="1007999" cy="2032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8800" y="2301800"/>
            <a:ext cx="1007999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NEXT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8800" y="2581200"/>
            <a:ext cx="31356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1">
                <a:solidFill>
                  <a:srgbClr val="1C1C1C"/>
                </a:solidFill>
                <a:latin typeface="Pretendard"/>
              </a:rPr>
              <a:t>중단기 로드맵 (Phase 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8800" y="3089200"/>
            <a:ext cx="3135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8800" y="3190800"/>
            <a:ext cx="31356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• 스마트 TV (WebOS / Tizen) 전용 앱 개발
• 배터리 절약용 Adaptive Compute 적용
• 지자체 거점 어르신 10인 필드 실증
• 카카오톡 보호자 웹 건강 리포트 연계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60800" y="2124000"/>
            <a:ext cx="3440400" cy="28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60800" y="2124000"/>
            <a:ext cx="344040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3200" y="2301800"/>
            <a:ext cx="1007999" cy="2032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3200" y="2301800"/>
            <a:ext cx="1007999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retendard"/>
              </a:rPr>
              <a:t>FUTURE 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3200" y="2581200"/>
            <a:ext cx="31356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1">
                <a:solidFill>
                  <a:srgbClr val="1C1C1C"/>
                </a:solidFill>
                <a:latin typeface="Pretendard"/>
              </a:rPr>
              <a:t>최종 고도화 (Phase 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3200" y="3089200"/>
            <a:ext cx="3135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3200" y="3190800"/>
            <a:ext cx="31356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050" b="0">
                <a:solidFill>
                  <a:srgbClr val="3E3E3E"/>
                </a:solidFill>
                <a:latin typeface="Pretendard"/>
              </a:rPr>
              <a:t>• 예방 알고리즘 및 안무 특허 출원
• 지자체 B2G 돌봄통합지원 서비스 연동
• 분산 개인정보 보호를 위한 연합 학습 도입
• 일본 개호 예방 서비스 공급선 확보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000" y="5166000"/>
            <a:ext cx="10609200" cy="720000"/>
          </a:xfrm>
          <a:prstGeom prst="rect">
            <a:avLst/>
          </a:prstGeom>
          <a:solidFill>
            <a:srgbClr val="0A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000" y="5293000"/>
            <a:ext cx="10101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"Tro-Fit은 트로트 한 곡과 스마트폰 하나로,
어르신이 낙상 없이 오래도록 자립적인 삶을 건강하게 누리는 미래를 만듭니다."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
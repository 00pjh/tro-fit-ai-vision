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413999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4450"/>
            <a:ext cx="3600000" cy="41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250">
                <a:solidFill>
                  <a:srgbClr val="FFFFFF"/>
                </a:solidFill>
                <a:latin typeface="Pretendard"/>
              </a:rPr>
              <a:t>TRO-FIT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33200" y="44450"/>
            <a:ext cx="1080000" cy="41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E7E7E"/>
                </a:solidFill>
                <a:latin typeface="Pretendard"/>
              </a:rPr>
              <a:t>01  /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503999"/>
            <a:ext cx="10609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spc="280">
                <a:solidFill>
                  <a:srgbClr val="00C88C"/>
                </a:solidFill>
                <a:latin typeface="Pretendard"/>
              </a:rPr>
              <a:t>PLATFORM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000" y="774000"/>
            <a:ext cx="660000" cy="31750"/>
          </a:xfrm>
          <a:prstGeom prst="rect">
            <a:avLst/>
          </a:prstGeom>
          <a:solidFill>
            <a:srgbClr val="006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52000" y="774000"/>
            <a:ext cx="660000" cy="31750"/>
          </a:xfrm>
          <a:prstGeom prst="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12000" y="774000"/>
            <a:ext cx="660000" cy="31750"/>
          </a:xfrm>
          <a:prstGeom prst="rect">
            <a:avLst/>
          </a:prstGeom>
          <a:solidFill>
            <a:srgbClr val="E22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917999"/>
            <a:ext cx="636552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00"/>
              </a:lnSpc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Pretendard"/>
              </a:rPr>
              <a:t>JOINT HEALTH.</a:t>
            </a:r>
          </a:p>
          <a:p>
            <a:pPr algn="l">
              <a:lnSpc>
                <a:spcPts val="4200"/>
              </a:lnSpc>
              <a:spcAft>
                <a:spcPts val="200"/>
              </a:spcAft>
            </a:pPr>
            <a:r>
              <a:rPr sz="3800" b="1">
                <a:solidFill>
                  <a:srgbClr val="00C88C"/>
                </a:solidFill>
                <a:latin typeface="Pretendard"/>
              </a:rPr>
              <a:t>FALL PREVENTION.</a:t>
            </a:r>
          </a:p>
          <a:p>
            <a:pPr algn="l">
              <a:lnSpc>
                <a:spcPts val="4200"/>
              </a:lnSpc>
            </a:pPr>
            <a:r>
              <a:rPr sz="3800" b="1">
                <a:solidFill>
                  <a:srgbClr val="FFFFFF"/>
                </a:solidFill>
                <a:latin typeface="Pretendard"/>
              </a:rPr>
              <a:t>ONE PLATFORM.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2015999"/>
            <a:ext cx="6153336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</a:pPr>
            <a:r>
              <a:rPr sz="1300" b="0">
                <a:solidFill>
                  <a:srgbClr val="E6E6E6"/>
                </a:solidFill>
                <a:latin typeface="Pretendard"/>
              </a:rPr>
              <a:t>관절 건강이 무너지면 낙상이 찾아옵니다. Tro-Fit은 근본을 바로잡습니다.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000" y="2430000"/>
            <a:ext cx="6047243" cy="1270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000" y="2556000"/>
            <a:ext cx="5622876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Aft>
                <a:spcPts val="600"/>
              </a:spcAft>
            </a:pPr>
            <a:r>
              <a:rPr sz="1250" b="0">
                <a:solidFill>
                  <a:srgbClr val="E6E6E6"/>
                </a:solidFill>
                <a:latin typeface="Pretendard"/>
              </a:rPr>
              <a:t>관절 기능 저하는 단순한 불편함이 아닙니다.</a:t>
            </a:r>
          </a:p>
          <a:p>
            <a:pPr algn="l">
              <a:lnSpc>
                <a:spcPts val="1900"/>
              </a:lnSpc>
              <a:spcAft>
                <a:spcPts val="600"/>
              </a:spcAft>
            </a:pPr>
            <a:r>
              <a:rPr sz="1200" b="0">
                <a:solidFill>
                  <a:srgbClr val="BBBBBB"/>
                </a:solidFill>
                <a:latin typeface="Pretendard"/>
              </a:rPr>
              <a:t>무릎·어깨 가동범위가 줄어들수록 균형 감각이 무너지고,
낙상 위험은 기하급수적으로 증가합니다.</a:t>
            </a:r>
          </a:p>
          <a:p>
            <a:pPr algn="l">
              <a:lnSpc>
                <a:spcPts val="2000"/>
              </a:lnSpc>
            </a:pPr>
            <a:r>
              <a:rPr sz="1250" b="1">
                <a:solidFill>
                  <a:srgbClr val="00C88C"/>
                </a:solidFill>
                <a:latin typeface="Pretendard"/>
              </a:rPr>
              <a:t>예방의 시작은 낙상이 아닌 — 관절 건강입니다.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4428000"/>
            <a:ext cx="43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spc="50">
                <a:solidFill>
                  <a:srgbClr val="00C88C"/>
                </a:solidFill>
                <a:latin typeface="Pretendard"/>
              </a:rPr>
              <a:t>→   AI 기반 관절 가동범위(ROM) 측정 + 맞춤 운동 처방 플랫폼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" y="4338000"/>
            <a:ext cx="216000" cy="19050"/>
          </a:xfrm>
          <a:prstGeom prst="rect">
            <a:avLst/>
          </a:prstGeom>
          <a:solidFill>
            <a:srgbClr val="00C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41200" y="2556000"/>
            <a:ext cx="3060000" cy="127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41200" y="2556000"/>
            <a:ext cx="1020000" cy="38100"/>
          </a:xfrm>
          <a:prstGeom prst="rect">
            <a:avLst/>
          </a:prstGeom>
          <a:solidFill>
            <a:srgbClr val="006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1200" y="2556000"/>
            <a:ext cx="1020000" cy="38100"/>
          </a:xfrm>
          <a:prstGeom prst="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81200" y="2556000"/>
            <a:ext cx="1020000" cy="38100"/>
          </a:xfrm>
          <a:prstGeom prst="rect">
            <a:avLst/>
          </a:prstGeom>
          <a:solidFill>
            <a:srgbClr val="E22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4400" y="2784600"/>
            <a:ext cx="26536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2718"/>
                </a:solidFill>
                <a:latin typeface="Pretendard"/>
              </a:rPr>
              <a:t>62.7%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4400" y="3318000"/>
            <a:ext cx="2653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spc="150">
                <a:solidFill>
                  <a:srgbClr val="7E7E7E"/>
                </a:solidFill>
                <a:latin typeface="Pretendard"/>
              </a:rPr>
              <a:t>65세↑  낙상 관련 사망 비율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41200" y="3996000"/>
            <a:ext cx="3060000" cy="127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41200" y="3996000"/>
            <a:ext cx="1020000" cy="38100"/>
          </a:xfrm>
          <a:prstGeom prst="rect">
            <a:avLst/>
          </a:prstGeom>
          <a:solidFill>
            <a:srgbClr val="006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61200" y="3996000"/>
            <a:ext cx="1020000" cy="38100"/>
          </a:xfrm>
          <a:prstGeom prst="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81200" y="3996000"/>
            <a:ext cx="1020000" cy="38100"/>
          </a:xfrm>
          <a:prstGeom prst="rect">
            <a:avLst/>
          </a:prstGeom>
          <a:solidFill>
            <a:srgbClr val="E22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4400" y="4224600"/>
            <a:ext cx="26536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551만원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4400" y="4758000"/>
            <a:ext cx="2653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spc="150">
                <a:solidFill>
                  <a:srgbClr val="7E7E7E"/>
                </a:solidFill>
                <a:latin typeface="Pretendard"/>
              </a:rPr>
              <a:t>노인 1인  연평균 진료비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41200" y="5436000"/>
            <a:ext cx="3060000" cy="127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41200" y="5436000"/>
            <a:ext cx="1020000" cy="38100"/>
          </a:xfrm>
          <a:prstGeom prst="rect">
            <a:avLst/>
          </a:prstGeom>
          <a:solidFill>
            <a:srgbClr val="006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61200" y="5436000"/>
            <a:ext cx="1020000" cy="38100"/>
          </a:xfrm>
          <a:prstGeom prst="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81200" y="5436000"/>
            <a:ext cx="1020000" cy="38100"/>
          </a:xfrm>
          <a:prstGeom prst="rect">
            <a:avLst/>
          </a:prstGeom>
          <a:solidFill>
            <a:srgbClr val="E22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4400" y="5664600"/>
            <a:ext cx="26536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C88C"/>
                </a:solidFill>
                <a:latin typeface="Pretendard"/>
              </a:rPr>
              <a:t>20.3%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4400" y="6198000"/>
            <a:ext cx="2653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spc="150">
                <a:solidFill>
                  <a:srgbClr val="7E7E7E"/>
                </a:solidFill>
                <a:latin typeface="Pretendard"/>
              </a:rPr>
              <a:t>초고령사회 진입 (2025 기준)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2000" y="6426000"/>
            <a:ext cx="10609200" cy="1270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2000" y="6464100"/>
            <a:ext cx="10609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spc="20">
                <a:solidFill>
                  <a:srgbClr val="7E7E7E"/>
                </a:solidFill>
                <a:latin typeface="Pretendard"/>
              </a:rPr>
              <a:t>출처: 2022 한국소비자원   |   2024 건강보험통계연보   |   2025 통계청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13550"/>
            <a:ext cx="4064400" cy="44450"/>
          </a:xfrm>
          <a:prstGeom prst="rect">
            <a:avLst/>
          </a:prstGeom>
          <a:solidFill>
            <a:srgbClr val="006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64400" y="6813550"/>
            <a:ext cx="4064400" cy="44450"/>
          </a:xfrm>
          <a:prstGeom prst="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28800" y="6813550"/>
            <a:ext cx="4064400" cy="44450"/>
          </a:xfrm>
          <a:prstGeom prst="rect">
            <a:avLst/>
          </a:prstGeom>
          <a:solidFill>
            <a:srgbClr val="E22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
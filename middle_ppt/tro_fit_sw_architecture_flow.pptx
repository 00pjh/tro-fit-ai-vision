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F2328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959F"/>
                </a:solidFill>
                <a:latin typeface="Pretendard"/>
              </a:rPr>
              <a:t>04c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1113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6426000"/>
            <a:ext cx="11113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6464100"/>
            <a:ext cx="88905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C959F"/>
                </a:solidFill>
                <a:latin typeface="Pretendard"/>
              </a:rPr>
              <a:t>출처: 2026 피우다프로젝트 WBS (로컬 환경 버전) 데이터 및 제어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774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328"/>
                </a:solidFill>
                <a:latin typeface="Pretendard"/>
              </a:rPr>
              <a:t>Tro-Fit 데이터 및 서비스 흐름도 (SW 동작 구성도)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152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Pretendard"/>
              </a:rPr>
              <a:t>사용자 동작 측정부터 실시간 ROM 진단, RAG 기반 안무 처방 및 TV 연동 운동 실행까지의 전체 순서도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340000"/>
            <a:ext cx="864000" cy="1007999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800" y="2416200"/>
            <a:ext cx="76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2328"/>
                </a:solidFill>
                <a:latin typeface="Pretendard"/>
              </a:rPr>
              <a:t>사용자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800" y="2670200"/>
            <a:ext cx="76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7606A"/>
                </a:solidFill>
                <a:latin typeface="Pretendard"/>
              </a:rPr>
              <a:t>(65세 이상
노년층)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0000" y="1620000"/>
            <a:ext cx="2088000" cy="2448000"/>
          </a:xfrm>
          <a:prstGeom prst="rect">
            <a:avLst/>
          </a:prstGeom>
          <a:solidFill>
            <a:srgbClr val="E8F2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7000" y="1721600"/>
            <a:ext cx="1834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66FF"/>
                </a:solidFill>
                <a:latin typeface="Pretendard"/>
              </a:rPr>
              <a:t>스마트폰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7000" y="1924800"/>
            <a:ext cx="183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7606A"/>
                </a:solidFill>
                <a:latin typeface="Pretendard"/>
              </a:rPr>
              <a:t>(React Native / Expo)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44000" y="2123999"/>
            <a:ext cx="1800000" cy="172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5600" y="2200199"/>
            <a:ext cx="159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328"/>
                </a:solidFill>
                <a:latin typeface="Pretendard"/>
              </a:rPr>
              <a:t>On-device AI 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5600" y="2403399"/>
            <a:ext cx="15968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57606A"/>
                </a:solidFill>
                <a:latin typeface="Pretendard"/>
              </a:rPr>
              <a:t>• MediaPipe Pose (33개 3D)
• RTMPose 모델 성능 검증
• TFLite (INT8 양자화 경량화)
• FMS 관절 각도 계산
※ 촬영 영상 즉시 파기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0" y="1620000"/>
            <a:ext cx="1872000" cy="1007999"/>
          </a:xfrm>
          <a:prstGeom prst="rect">
            <a:avLst/>
          </a:prstGeom>
          <a:solidFill>
            <a:srgbClr val="E6F8F3"/>
          </a:solidFill>
          <a:ln w="12700">
            <a:solidFill>
              <a:srgbClr val="00B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7000" y="1721600"/>
            <a:ext cx="161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882"/>
                </a:solidFill>
                <a:latin typeface="Pretendard"/>
              </a:rPr>
              <a:t>API 서버 (FastAPI)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7000" y="1950200"/>
            <a:ext cx="161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RESTful API / JSON
• JWT 인증 &amp; WebSocket
• 보호자 카카오톡 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0000" y="3060000"/>
            <a:ext cx="1872000" cy="1007999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3161600"/>
            <a:ext cx="161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328"/>
                </a:solidFill>
                <a:latin typeface="Pretendard"/>
              </a:rPr>
              <a:t>비동기 분석 (Celery / Redis)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3390200"/>
            <a:ext cx="161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LLM Fine-tuning 안무 자동 생성
• FFmpeg 오디오/VOD 인코딩
• 시계열 이상 탐지 예보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2000" y="1620000"/>
            <a:ext cx="1728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600" y="1696200"/>
            <a:ext cx="152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328"/>
                </a:solidFill>
                <a:latin typeface="Pretendard"/>
              </a:rPr>
              <a:t>PostgreSQL (RDB)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600" y="1899400"/>
            <a:ext cx="152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57606A"/>
                </a:solidFill>
                <a:latin typeface="Pretendard"/>
              </a:rPr>
              <a:t>• 사용자 데이터
• 누적 ROM 시계열 로그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2000" y="2484000"/>
            <a:ext cx="1728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600" y="2560200"/>
            <a:ext cx="152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328"/>
                </a:solidFill>
                <a:latin typeface="Pretendard"/>
              </a:rPr>
              <a:t>ChromaDB (Vector DB)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600" y="2763400"/>
            <a:ext cx="152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57606A"/>
                </a:solidFill>
                <a:latin typeface="Pretendard"/>
              </a:rPr>
              <a:t>• 36개 임상 지침 가이드
• RAG 기반 유사도 검색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12000" y="3348000"/>
            <a:ext cx="1728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600" y="3424200"/>
            <a:ext cx="152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328"/>
                </a:solidFill>
                <a:latin typeface="Pretendard"/>
              </a:rPr>
              <a:t>MinIO (Object Storage)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600" y="3627400"/>
            <a:ext cx="152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800" b="0">
                <a:solidFill>
                  <a:srgbClr val="57606A"/>
                </a:solidFill>
                <a:latin typeface="Pretendard"/>
              </a:rPr>
              <a:t>• 안무 JSON 패킷
• 로컬 S3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0000" y="2088000"/>
            <a:ext cx="2448000" cy="1512000"/>
          </a:xfrm>
          <a:prstGeom prst="rect">
            <a:avLst/>
          </a:prstGeom>
          <a:solidFill>
            <a:srgbClr val="E8F2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2400" y="2215000"/>
            <a:ext cx="21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166FF"/>
                </a:solidFill>
                <a:latin typeface="Pretendard"/>
              </a:rPr>
              <a:t>스마트 TV (거실 화면)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2400" y="2443600"/>
            <a:ext cx="21432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7606A"/>
                </a:solidFill>
                <a:latin typeface="Pretendard"/>
              </a:rPr>
              <a:t>(WebOS / Tizen TV App)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2400" y="2621400"/>
            <a:ext cx="2143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Chromecast 수신 연동
• HDMI 미러링 및 Wake Lock 활성
• Lottie 캐릭터 안무 시각화 재생
• TV 리모컨 조작 피드백 송수신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000" y="5040000"/>
            <a:ext cx="11113200" cy="792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0" y="5141600"/>
            <a:ext cx="107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spc="100">
                <a:solidFill>
                  <a:srgbClr val="57606A"/>
                </a:solidFill>
                <a:latin typeface="Pretendard"/>
              </a:rPr>
              <a:t>개발 인프라 및 신뢰성 검증 환경 (WBS 기재 도구)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000" y="5291999"/>
            <a:ext cx="2553300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200" y="5310000"/>
            <a:ext cx="2481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CI/CD 빌드 자동화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200" y="5453999"/>
            <a:ext cx="2481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GitHub Actions  |  로컬 Docker Compose 빌드 자동화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17300" y="5291999"/>
            <a:ext cx="2553300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48500" y="5310000"/>
            <a:ext cx="2481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멀티컨테이너 모니터링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8500" y="5453999"/>
            <a:ext cx="2481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Prometheus + Grafana  |  Docker 리소스 모니터링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2600" y="5291999"/>
            <a:ext cx="2553300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3800" y="5310000"/>
            <a:ext cx="2481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성능 및 부하 테스트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3800" y="5453999"/>
            <a:ext cx="2481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Locust  |  FastAPI API 서버 로컬 부하 테스트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27900" y="5291999"/>
            <a:ext cx="2553300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59100" y="5310000"/>
            <a:ext cx="2481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정적 및 동적 보안 진단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59100" y="5453999"/>
            <a:ext cx="2481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OWASP ZAP 로컬 취약점 스캔  |  Bandit Python 코드 정적 보안 분석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1404000" y="2628000"/>
            <a:ext cx="396000" cy="108000"/>
          </a:xfrm>
          <a:prstGeom prst="rightArrow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04000" y="2124000"/>
            <a:ext cx="7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D00"/>
                </a:solidFill>
                <a:latin typeface="Pretendard"/>
              </a:rPr>
              <a:t>① 관절 영상 촬영
3D 랜드마크 추출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888000" y="1908000"/>
            <a:ext cx="612000" cy="108000"/>
          </a:xfrm>
          <a:prstGeom prst="rightArrow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24000" y="1404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D00"/>
                </a:solidFill>
                <a:latin typeface="Pretendard"/>
              </a:rPr>
              <a:t>② ROM 진단
JSON 전송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372000" y="1908000"/>
            <a:ext cx="540000" cy="108000"/>
          </a:xfrm>
          <a:prstGeom prst="rightArrow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8000" y="1440000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66FF"/>
                </a:solidFill>
                <a:latin typeface="Pretendard"/>
              </a:rPr>
              <a:t>③ 누적 데이터
저장 (SQL)</a:t>
            </a:r>
          </a:p>
        </p:txBody>
      </p:sp>
      <p:sp>
        <p:nvSpPr>
          <p:cNvPr id="61" name="Up Arrow 60"/>
          <p:cNvSpPr/>
          <p:nvPr/>
        </p:nvSpPr>
        <p:spPr>
          <a:xfrm>
            <a:off x="5382000" y="2627999"/>
            <a:ext cx="108000" cy="432000"/>
          </a:xfrm>
          <a:prstGeom prst="upArrow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08000" y="2735999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66FF"/>
                </a:solidFill>
                <a:latin typeface="Pretendard"/>
              </a:rPr>
              <a:t>④ 비동기 안무
생성 대기열 전송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372000" y="2772000"/>
            <a:ext cx="540000" cy="108000"/>
          </a:xfrm>
          <a:prstGeom prst="rightArrow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8000" y="2304000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B882"/>
                </a:solidFill>
                <a:latin typeface="Pretendard"/>
              </a:rPr>
              <a:t>⑤ 임상지침 RAG
유사도 검색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6372000" y="3636000"/>
            <a:ext cx="540000" cy="108000"/>
          </a:xfrm>
          <a:prstGeom prst="rightArrow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8000" y="3168000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B882"/>
                </a:solidFill>
                <a:latin typeface="Pretendard"/>
              </a:rPr>
              <a:t>⑥ 안무 생성
JSON 저장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3888000" y="2268000"/>
            <a:ext cx="612000" cy="108000"/>
          </a:xfrm>
          <a:prstGeom prst="downArrow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24000" y="2376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D00"/>
                </a:solidFill>
                <a:latin typeface="Pretendard"/>
              </a:rPr>
              <a:t>⑦ 맞춤 안무
JSON URL 전달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3888000" y="3420000"/>
            <a:ext cx="5292000" cy="108000"/>
          </a:xfrm>
          <a:prstGeom prst="rightArrow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08000" y="316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D00"/>
                </a:solidFill>
                <a:latin typeface="Pretendard"/>
              </a:rPr>
              <a:t>⑧ TV 연동 실행 (Chromecast 캐스팅 및 HDMI 미러링 전송 → Lottie 애니메이션 및 오디오 재생)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807200"/>
            <a:ext cx="12193200" cy="50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